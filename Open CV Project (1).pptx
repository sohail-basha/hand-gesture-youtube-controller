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FF83D8-E62D-4293-9C02-166FBB21B22B}">
  <a:tblStyle styleId="{39FF83D8-E62D-4293-9C02-166FBB21B22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eada7782f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beada7782f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eada7782f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3beada7782f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eada7782f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beada7782f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eada7782f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3beada7782f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beada7782f_0_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3beada7782f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actionButton</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p:txBody>
      </p:sp>
      <p:sp>
        <p:nvSpPr>
          <p:cNvPr id="215" name="Google Shape;21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 name="Shape 19"/>
        <p:cNvGrpSpPr/>
        <p:nvPr/>
      </p:nvGrpSpPr>
      <p:grpSpPr>
        <a:xfrm>
          <a:off x="0" y="0"/>
          <a:ext cx="0" cy="0"/>
          <a:chOff x="0" y="0"/>
          <a:chExt cx="0" cy="0"/>
        </a:xfrm>
      </p:grpSpPr>
      <p:sp>
        <p:nvSpPr>
          <p:cNvPr id="20" name="Google Shape;20;p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 name="Google Shape;22;p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 name="Shape 32"/>
        <p:cNvGrpSpPr/>
        <p:nvPr/>
      </p:nvGrpSpPr>
      <p:grpSpPr>
        <a:xfrm>
          <a:off x="0" y="0"/>
          <a:ext cx="0" cy="0"/>
          <a:chOff x="0" y="0"/>
          <a:chExt cx="0" cy="0"/>
        </a:xfrm>
      </p:grpSpPr>
      <p:sp>
        <p:nvSpPr>
          <p:cNvPr id="33" name="Google Shape;33;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hyperlink" Target="http://www.linkedin.com/in/sohailbasha789" TargetMode="External"/><Relationship Id="rId5" Type="http://schemas.openxmlformats.org/officeDocument/2006/relationships/hyperlink" Target="https://github.com/Sohail-Basha" TargetMode="External"/><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7.jp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9.gif"/><Relationship Id="rId9" Type="http://schemas.openxmlformats.org/officeDocument/2006/relationships/image" Target="../media/image14.gif"/><Relationship Id="rId5" Type="http://schemas.openxmlformats.org/officeDocument/2006/relationships/image" Target="../media/image10.gif"/><Relationship Id="rId6" Type="http://schemas.openxmlformats.org/officeDocument/2006/relationships/image" Target="../media/image11.gif"/><Relationship Id="rId7" Type="http://schemas.openxmlformats.org/officeDocument/2006/relationships/image" Target="../media/image12.gif"/><Relationship Id="rId8"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pSp>
        <p:nvGrpSpPr>
          <p:cNvPr id="89" name="Google Shape;89;p13"/>
          <p:cNvGrpSpPr/>
          <p:nvPr/>
        </p:nvGrpSpPr>
        <p:grpSpPr>
          <a:xfrm>
            <a:off x="8626" y="8626"/>
            <a:ext cx="12192001" cy="6858000"/>
            <a:chOff x="0" y="0"/>
            <a:chExt cx="12192001" cy="6858000"/>
          </a:xfrm>
        </p:grpSpPr>
        <p:pic>
          <p:nvPicPr>
            <p:cNvPr descr="A white background with black and white clouds&#10;&#10;AI-generated content may be incorrect." id="90" name="Google Shape;90;p13"/>
            <p:cNvPicPr preferRelativeResize="0"/>
            <p:nvPr/>
          </p:nvPicPr>
          <p:blipFill rotWithShape="1">
            <a:blip r:embed="rId3">
              <a:alphaModFix/>
            </a:blip>
            <a:srcRect b="0" l="0" r="0" t="0"/>
            <a:stretch/>
          </p:blipFill>
          <p:spPr>
            <a:xfrm>
              <a:off x="1" y="4733629"/>
              <a:ext cx="12192000" cy="2124371"/>
            </a:xfrm>
            <a:prstGeom prst="rect">
              <a:avLst/>
            </a:prstGeom>
            <a:noFill/>
            <a:ln>
              <a:noFill/>
            </a:ln>
          </p:spPr>
        </p:pic>
        <p:pic>
          <p:nvPicPr>
            <p:cNvPr id="91" name="Google Shape;91;p13"/>
            <p:cNvPicPr preferRelativeResize="0"/>
            <p:nvPr/>
          </p:nvPicPr>
          <p:blipFill rotWithShape="1">
            <a:blip r:embed="rId4">
              <a:alphaModFix/>
            </a:blip>
            <a:srcRect b="0" l="0" r="0" t="0"/>
            <a:stretch/>
          </p:blipFill>
          <p:spPr>
            <a:xfrm>
              <a:off x="0" y="0"/>
              <a:ext cx="12192000" cy="2810267"/>
            </a:xfrm>
            <a:prstGeom prst="rect">
              <a:avLst/>
            </a:prstGeom>
            <a:noFill/>
            <a:ln>
              <a:noFill/>
            </a:ln>
          </p:spPr>
        </p:pic>
      </p:grpSp>
      <p:sp>
        <p:nvSpPr>
          <p:cNvPr id="92" name="Google Shape;92;p13"/>
          <p:cNvSpPr txBox="1"/>
          <p:nvPr/>
        </p:nvSpPr>
        <p:spPr>
          <a:xfrm>
            <a:off x="1627933" y="2745639"/>
            <a:ext cx="9196200" cy="19086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0" i="1" lang="en-US" sz="2000" u="none" cap="none" strike="noStrike">
                <a:solidFill>
                  <a:schemeClr val="dk1"/>
                </a:solidFill>
                <a:latin typeface="Times New Roman"/>
                <a:ea typeface="Times New Roman"/>
                <a:cs typeface="Times New Roman"/>
                <a:sym typeface="Times New Roman"/>
              </a:rPr>
              <a:t>Project on </a:t>
            </a:r>
            <a:endParaRPr/>
          </a:p>
          <a:p>
            <a:pPr indent="0" lvl="0" marL="0" marR="0" rtl="0" algn="ctr">
              <a:spcBef>
                <a:spcPts val="0"/>
              </a:spcBef>
              <a:spcAft>
                <a:spcPts val="0"/>
              </a:spcAft>
              <a:buNone/>
            </a:pPr>
            <a:r>
              <a:rPr b="1" lang="en-US" sz="4400">
                <a:solidFill>
                  <a:srgbClr val="FF0000"/>
                </a:solidFill>
                <a:latin typeface="Calibri"/>
                <a:ea typeface="Calibri"/>
                <a:cs typeface="Calibri"/>
                <a:sym typeface="Calibri"/>
              </a:rPr>
              <a:t>Hand Gesture Controlled YouTube Player</a:t>
            </a:r>
            <a:endParaRPr b="0" i="1" sz="1600" u="none" cap="none" strike="noStrike">
              <a:solidFill>
                <a:schemeClr val="dk1"/>
              </a:solidFill>
              <a:latin typeface="Times New Roman"/>
              <a:ea typeface="Times New Roman"/>
              <a:cs typeface="Times New Roman"/>
              <a:sym typeface="Times New Roman"/>
            </a:endParaRPr>
          </a:p>
        </p:txBody>
      </p:sp>
      <p:sp>
        <p:nvSpPr>
          <p:cNvPr id="93" name="Google Shape;93;p13"/>
          <p:cNvSpPr txBox="1"/>
          <p:nvPr/>
        </p:nvSpPr>
        <p:spPr>
          <a:xfrm>
            <a:off x="7803322" y="5487618"/>
            <a:ext cx="39318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Presented by :</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Name : </a:t>
            </a:r>
            <a:r>
              <a:rPr b="1" lang="en-US" sz="1800">
                <a:solidFill>
                  <a:schemeClr val="dk1"/>
                </a:solidFill>
                <a:latin typeface="Times New Roman"/>
                <a:ea typeface="Times New Roman"/>
                <a:cs typeface="Times New Roman"/>
                <a:sym typeface="Times New Roman"/>
              </a:rPr>
              <a:t>Gounda Sohail Basha</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Batch No : </a:t>
            </a:r>
            <a:r>
              <a:rPr b="1" lang="en-US" sz="1800">
                <a:solidFill>
                  <a:schemeClr val="dk1"/>
                </a:solidFill>
                <a:latin typeface="Times New Roman"/>
                <a:ea typeface="Times New Roman"/>
                <a:cs typeface="Times New Roman"/>
                <a:sym typeface="Times New Roman"/>
              </a:rPr>
              <a:t>436</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Branch : </a:t>
            </a:r>
            <a:r>
              <a:rPr b="1" lang="en-US" sz="1800">
                <a:solidFill>
                  <a:schemeClr val="dk1"/>
                </a:solidFill>
                <a:latin typeface="Times New Roman"/>
                <a:ea typeface="Times New Roman"/>
                <a:cs typeface="Times New Roman"/>
                <a:sym typeface="Times New Roman"/>
              </a:rPr>
              <a:t>Dilsukhnagar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descr="A close up of a logo&#10;&#10;AI-generated content may be incorrect." id="98" name="Google Shape;98;p14"/>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99" name="Google Shape;99;p14"/>
          <p:cNvSpPr txBox="1"/>
          <p:nvPr/>
        </p:nvSpPr>
        <p:spPr>
          <a:xfrm>
            <a:off x="674298" y="48473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About me</a:t>
            </a:r>
            <a:br>
              <a:rPr b="1" lang="en-US" sz="4000">
                <a:solidFill>
                  <a:srgbClr val="FF0000"/>
                </a:solidFill>
                <a:latin typeface="Times New Roman"/>
                <a:ea typeface="Times New Roman"/>
                <a:cs typeface="Times New Roman"/>
                <a:sym typeface="Times New Roman"/>
              </a:rPr>
            </a:br>
            <a:r>
              <a:rPr b="1" lang="en-US" sz="4000">
                <a:solidFill>
                  <a:srgbClr val="FF0000"/>
                </a:solidFill>
                <a:latin typeface="Times New Roman"/>
                <a:ea typeface="Times New Roman"/>
                <a:cs typeface="Times New Roman"/>
                <a:sym typeface="Times New Roman"/>
              </a:rPr>
              <a:t> </a:t>
            </a:r>
            <a:br>
              <a:rPr b="1" lang="en-US" sz="4000">
                <a:solidFill>
                  <a:srgbClr val="FF0000"/>
                </a:solidFill>
                <a:latin typeface="Times New Roman"/>
                <a:ea typeface="Times New Roman"/>
                <a:cs typeface="Times New Roman"/>
                <a:sym typeface="Times New Roman"/>
              </a:rPr>
            </a:br>
            <a:endParaRPr b="1" sz="4000">
              <a:solidFill>
                <a:srgbClr val="FF0000"/>
              </a:solidFill>
              <a:latin typeface="Times New Roman"/>
              <a:ea typeface="Times New Roman"/>
              <a:cs typeface="Times New Roman"/>
              <a:sym typeface="Times New Roman"/>
            </a:endParaRPr>
          </a:p>
        </p:txBody>
      </p:sp>
      <p:sp>
        <p:nvSpPr>
          <p:cNvPr id="100" name="Google Shape;100;p14"/>
          <p:cNvSpPr txBox="1"/>
          <p:nvPr/>
        </p:nvSpPr>
        <p:spPr>
          <a:xfrm>
            <a:off x="345383" y="966787"/>
            <a:ext cx="11352900" cy="3170700"/>
          </a:xfrm>
          <a:prstGeom prst="rect">
            <a:avLst/>
          </a:prstGeom>
          <a:noFill/>
          <a:ln>
            <a:noFill/>
          </a:ln>
        </p:spPr>
        <p:txBody>
          <a:bodyPr anchorCtr="0" anchor="t" bIns="45700" lIns="91425" spcFirstLastPara="1" rIns="91425" wrap="square" tIns="45700">
            <a:spAutoFit/>
          </a:bodyPr>
          <a:lstStyle/>
          <a:p>
            <a:pPr indent="0" lvl="1" marL="457200" marR="0" rtl="0" algn="just">
              <a:lnSpc>
                <a:spcPct val="150000"/>
              </a:lnSpc>
              <a:spcBef>
                <a:spcPts val="0"/>
              </a:spcBef>
              <a:spcAft>
                <a:spcPts val="0"/>
              </a:spcAft>
              <a:buNone/>
            </a:pPr>
            <a:r>
              <a:t/>
            </a:r>
            <a:endParaRPr b="0" i="0" sz="1800" u="none" cap="none" strike="noStrike">
              <a:solidFill>
                <a:schemeClr val="dk1"/>
              </a:solidFill>
              <a:latin typeface="Times New Roman"/>
              <a:ea typeface="Times New Roman"/>
              <a:cs typeface="Times New Roman"/>
              <a:sym typeface="Times New Roman"/>
            </a:endParaRPr>
          </a:p>
          <a:p>
            <a:pPr indent="0" lvl="1" marL="457200" marR="0" rtl="0" algn="just">
              <a:lnSpc>
                <a:spcPct val="15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I am </a:t>
            </a:r>
            <a:r>
              <a:rPr b="1" lang="en-US" sz="1800">
                <a:solidFill>
                  <a:schemeClr val="dk1"/>
                </a:solidFill>
                <a:latin typeface="Times New Roman"/>
                <a:ea typeface="Times New Roman"/>
                <a:cs typeface="Times New Roman"/>
                <a:sym typeface="Times New Roman"/>
              </a:rPr>
              <a:t>Gounda Sohail Basha</a:t>
            </a:r>
            <a:r>
              <a:rPr b="1" i="0" lang="en-US" sz="1800" u="none" cap="none" strike="noStrike">
                <a:solidFill>
                  <a:schemeClr val="dk1"/>
                </a:solidFill>
                <a:latin typeface="Times New Roman"/>
                <a:ea typeface="Times New Roman"/>
                <a:cs typeface="Times New Roman"/>
                <a:sym typeface="Times New Roman"/>
              </a:rPr>
              <a:t>. </a:t>
            </a:r>
            <a:endParaRPr/>
          </a:p>
          <a:p>
            <a:pPr indent="0" lvl="1" marL="457200" marR="0" rtl="0" algn="just">
              <a:lnSpc>
                <a:spcPct val="150000"/>
              </a:lnSpc>
              <a:spcBef>
                <a:spcPts val="0"/>
              </a:spcBef>
              <a:spcAft>
                <a:spcPts val="0"/>
              </a:spcAft>
              <a:buNone/>
            </a:pPr>
            <a:r>
              <a:t/>
            </a:r>
            <a:endParaRPr b="0" i="0" sz="1000" u="none" cap="none" strike="noStrike">
              <a:solidFill>
                <a:schemeClr val="dk1"/>
              </a:solidFill>
              <a:latin typeface="Times New Roman"/>
              <a:ea typeface="Times New Roman"/>
              <a:cs typeface="Times New Roman"/>
              <a:sym typeface="Times New Roman"/>
            </a:endParaRPr>
          </a:p>
          <a:p>
            <a:pPr indent="0" lvl="1" marL="457200" marR="0" rtl="0" algn="just">
              <a:lnSpc>
                <a:spcPct val="15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I completed my B.Tech in </a:t>
            </a:r>
            <a:r>
              <a:rPr lang="en-US" sz="1800">
                <a:solidFill>
                  <a:schemeClr val="dk1"/>
                </a:solidFill>
                <a:latin typeface="Times New Roman"/>
                <a:ea typeface="Times New Roman"/>
                <a:cs typeface="Times New Roman"/>
                <a:sym typeface="Times New Roman"/>
              </a:rPr>
              <a:t>Mechanical </a:t>
            </a:r>
            <a:r>
              <a:rPr b="0" i="0" lang="en-US" sz="1800" u="none" cap="none" strike="noStrike">
                <a:solidFill>
                  <a:schemeClr val="dk1"/>
                </a:solidFill>
                <a:latin typeface="Times New Roman"/>
                <a:ea typeface="Times New Roman"/>
                <a:cs typeface="Times New Roman"/>
                <a:sym typeface="Times New Roman"/>
              </a:rPr>
              <a:t> Engineering from </a:t>
            </a:r>
            <a:r>
              <a:rPr lang="en-US" sz="1800">
                <a:solidFill>
                  <a:schemeClr val="dk1"/>
                </a:solidFill>
                <a:latin typeface="Times New Roman"/>
                <a:ea typeface="Times New Roman"/>
                <a:cs typeface="Times New Roman"/>
                <a:sym typeface="Times New Roman"/>
              </a:rPr>
              <a:t>G Pulla Reddy </a:t>
            </a:r>
            <a:r>
              <a:rPr b="0" i="0" lang="en-US" sz="1800" u="none" cap="none" strike="noStrike">
                <a:solidFill>
                  <a:schemeClr val="dk1"/>
                </a:solidFill>
                <a:latin typeface="Times New Roman"/>
                <a:ea typeface="Times New Roman"/>
                <a:cs typeface="Times New Roman"/>
                <a:sym typeface="Times New Roman"/>
              </a:rPr>
              <a:t>College of Engineering(</a:t>
            </a:r>
            <a:r>
              <a:rPr lang="en-US" sz="1800">
                <a:solidFill>
                  <a:schemeClr val="dk1"/>
                </a:solidFill>
                <a:latin typeface="Times New Roman"/>
                <a:ea typeface="Times New Roman"/>
                <a:cs typeface="Times New Roman"/>
                <a:sym typeface="Times New Roman"/>
              </a:rPr>
              <a:t>Kurnool</a:t>
            </a:r>
            <a:r>
              <a:rPr b="0" i="0" lang="en-US" sz="1800" u="none" cap="none" strike="noStrike">
                <a:solidFill>
                  <a:schemeClr val="dk1"/>
                </a:solidFill>
                <a:latin typeface="Times New Roman"/>
                <a:ea typeface="Times New Roman"/>
                <a:cs typeface="Times New Roman"/>
                <a:sym typeface="Times New Roman"/>
              </a:rPr>
              <a:t>).</a:t>
            </a:r>
            <a:endParaRPr/>
          </a:p>
          <a:p>
            <a:pPr indent="0" lvl="1" marL="457200" marR="0" rtl="0" algn="just">
              <a:lnSpc>
                <a:spcPct val="150000"/>
              </a:lnSpc>
              <a:spcBef>
                <a:spcPts val="0"/>
              </a:spcBef>
              <a:spcAft>
                <a:spcPts val="0"/>
              </a:spcAft>
              <a:buNone/>
            </a:pPr>
            <a:r>
              <a:t/>
            </a:r>
            <a:endParaRPr b="0" i="0" sz="1000" u="none" cap="none" strike="noStrike">
              <a:solidFill>
                <a:schemeClr val="dk1"/>
              </a:solidFill>
              <a:latin typeface="Times New Roman"/>
              <a:ea typeface="Times New Roman"/>
              <a:cs typeface="Times New Roman"/>
              <a:sym typeface="Times New Roman"/>
            </a:endParaRPr>
          </a:p>
          <a:p>
            <a:pPr indent="0" lvl="1" marL="457200" marR="0" rtl="0" algn="just">
              <a:lnSpc>
                <a:spcPct val="15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Linkedin : </a:t>
            </a:r>
            <a:r>
              <a:rPr lang="en-US" sz="1800" u="sng">
                <a:solidFill>
                  <a:schemeClr val="hlink"/>
                </a:solidFill>
                <a:latin typeface="Times New Roman"/>
                <a:ea typeface="Times New Roman"/>
                <a:cs typeface="Times New Roman"/>
                <a:sym typeface="Times New Roman"/>
                <a:hlinkClick r:id="rId4"/>
              </a:rPr>
              <a:t>www.linkedin.com/in/sohailbasha789</a:t>
            </a:r>
            <a:endParaRPr b="0" i="0" sz="1800" u="none" cap="none" strike="noStrike">
              <a:solidFill>
                <a:schemeClr val="dk1"/>
              </a:solidFill>
              <a:latin typeface="Times New Roman"/>
              <a:ea typeface="Times New Roman"/>
              <a:cs typeface="Times New Roman"/>
              <a:sym typeface="Times New Roman"/>
            </a:endParaRPr>
          </a:p>
          <a:p>
            <a:pPr indent="0" lvl="1" marL="457200" marR="0" rtl="0" algn="just">
              <a:lnSpc>
                <a:spcPct val="150000"/>
              </a:lnSpc>
              <a:spcBef>
                <a:spcPts val="0"/>
              </a:spcBef>
              <a:spcAft>
                <a:spcPts val="0"/>
              </a:spcAft>
              <a:buNone/>
            </a:pPr>
            <a:r>
              <a:t/>
            </a:r>
            <a:endParaRPr b="0" i="0" sz="1000" u="none" cap="none" strike="noStrike">
              <a:solidFill>
                <a:schemeClr val="dk1"/>
              </a:solidFill>
              <a:latin typeface="Times New Roman"/>
              <a:ea typeface="Times New Roman"/>
              <a:cs typeface="Times New Roman"/>
              <a:sym typeface="Times New Roman"/>
            </a:endParaRPr>
          </a:p>
          <a:p>
            <a:pPr indent="0" lvl="1" marL="457200" marR="0" rtl="0" algn="just">
              <a:lnSpc>
                <a:spcPct val="15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Github : </a:t>
            </a:r>
            <a:r>
              <a:rPr lang="en-US" sz="1800" u="sng">
                <a:solidFill>
                  <a:schemeClr val="hlink"/>
                </a:solidFill>
                <a:latin typeface="Times New Roman"/>
                <a:ea typeface="Times New Roman"/>
                <a:cs typeface="Times New Roman"/>
                <a:sym typeface="Times New Roman"/>
                <a:hlinkClick r:id="rId5"/>
              </a:rPr>
              <a:t>https://github.com/Sohail-Basha</a:t>
            </a:r>
            <a:endParaRPr b="0" i="0" sz="1800" u="none" cap="none" strike="noStrike">
              <a:solidFill>
                <a:schemeClr val="dk1"/>
              </a:solidFill>
              <a:latin typeface="Times New Roman"/>
              <a:ea typeface="Times New Roman"/>
              <a:cs typeface="Times New Roman"/>
              <a:sym typeface="Times New Roman"/>
            </a:endParaRPr>
          </a:p>
          <a:p>
            <a:pPr indent="0" lvl="1" marL="457200" marR="0" rtl="0" algn="just">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101" name="Google Shape;101;p14"/>
          <p:cNvPicPr preferRelativeResize="0"/>
          <p:nvPr/>
        </p:nvPicPr>
        <p:blipFill rotWithShape="1">
          <a:blip r:embed="rId6">
            <a:alphaModFix/>
          </a:blip>
          <a:srcRect b="4058" l="51546" r="0" t="19420"/>
          <a:stretch/>
        </p:blipFill>
        <p:spPr>
          <a:xfrm>
            <a:off x="10127973" y="3794411"/>
            <a:ext cx="1570384" cy="24800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txBox="1"/>
          <p:nvPr/>
        </p:nvSpPr>
        <p:spPr>
          <a:xfrm>
            <a:off x="674298" y="168343"/>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Agenda</a:t>
            </a:r>
            <a:br>
              <a:rPr b="1" lang="en-US" sz="4000">
                <a:solidFill>
                  <a:srgbClr val="FF0000"/>
                </a:solidFill>
                <a:latin typeface="Times New Roman"/>
                <a:ea typeface="Times New Roman"/>
                <a:cs typeface="Times New Roman"/>
                <a:sym typeface="Times New Roman"/>
              </a:rPr>
            </a:br>
            <a:br>
              <a:rPr b="1" lang="en-US" sz="4000">
                <a:solidFill>
                  <a:srgbClr val="FF0000"/>
                </a:solidFill>
                <a:latin typeface="Times New Roman"/>
                <a:ea typeface="Times New Roman"/>
                <a:cs typeface="Times New Roman"/>
                <a:sym typeface="Times New Roman"/>
              </a:rPr>
            </a:br>
            <a:r>
              <a:rPr b="1" lang="en-US" sz="4000">
                <a:solidFill>
                  <a:srgbClr val="FF0000"/>
                </a:solidFill>
                <a:latin typeface="Times New Roman"/>
                <a:ea typeface="Times New Roman"/>
                <a:cs typeface="Times New Roman"/>
                <a:sym typeface="Times New Roman"/>
              </a:rPr>
              <a:t> </a:t>
            </a:r>
            <a:br>
              <a:rPr b="1" lang="en-US" sz="4000">
                <a:solidFill>
                  <a:srgbClr val="FF0000"/>
                </a:solidFill>
                <a:latin typeface="Times New Roman"/>
                <a:ea typeface="Times New Roman"/>
                <a:cs typeface="Times New Roman"/>
                <a:sym typeface="Times New Roman"/>
              </a:rPr>
            </a:br>
            <a:endParaRPr b="1" sz="4000">
              <a:solidFill>
                <a:srgbClr val="FF0000"/>
              </a:solidFill>
              <a:latin typeface="Times New Roman"/>
              <a:ea typeface="Times New Roman"/>
              <a:cs typeface="Times New Roman"/>
              <a:sym typeface="Times New Roman"/>
            </a:endParaRPr>
          </a:p>
        </p:txBody>
      </p:sp>
      <p:pic>
        <p:nvPicPr>
          <p:cNvPr descr="A close up of a logo&#10;&#10;AI-generated content may be incorrect." id="107" name="Google Shape;107;p15"/>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08" name="Google Shape;108;p15"/>
          <p:cNvSpPr txBox="1"/>
          <p:nvPr/>
        </p:nvSpPr>
        <p:spPr>
          <a:xfrm>
            <a:off x="674300" y="931075"/>
            <a:ext cx="5773800" cy="5828700"/>
          </a:xfrm>
          <a:prstGeom prst="rect">
            <a:avLst/>
          </a:prstGeom>
          <a:noFill/>
          <a:ln>
            <a:noFill/>
          </a:ln>
        </p:spPr>
        <p:txBody>
          <a:bodyPr anchorCtr="0" anchor="t" bIns="45700" lIns="91425" spcFirstLastPara="1" rIns="91425" wrap="square" tIns="45700">
            <a:spAutoFit/>
          </a:bodyPr>
          <a:lstStyle/>
          <a:p>
            <a:pPr indent="-374650" lvl="0" marL="457200" rtl="0" algn="l">
              <a:lnSpc>
                <a:spcPct val="115000"/>
              </a:lnSpc>
              <a:spcBef>
                <a:spcPts val="700"/>
              </a:spcBef>
              <a:spcAft>
                <a:spcPts val="0"/>
              </a:spcAft>
              <a:buClr>
                <a:schemeClr val="dk1"/>
              </a:buClr>
              <a:buSzPts val="2300"/>
              <a:buChar char="●"/>
            </a:pPr>
            <a:r>
              <a:rPr lang="en-US" sz="2300">
                <a:solidFill>
                  <a:schemeClr val="dk1"/>
                </a:solidFill>
              </a:rPr>
              <a:t>Introduction</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Problem Statement</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Business Problem Statement</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Project Objectives</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System Architecture</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Methodology</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Hand Landmark Detection</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Finger Counting Logic</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Gesture-to-Action Mapping</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Results</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Future Enhancements</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Conclusion</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Q &amp; A</a:t>
            </a:r>
            <a:endParaRPr sz="2300">
              <a:solidFill>
                <a:schemeClr val="dk1"/>
              </a:solidFill>
            </a:endParaRPr>
          </a:p>
          <a:p>
            <a:pPr indent="0" lvl="0" marL="0" rtl="0" algn="l">
              <a:lnSpc>
                <a:spcPct val="115000"/>
              </a:lnSpc>
              <a:spcBef>
                <a:spcPts val="700"/>
              </a:spcBef>
              <a:spcAft>
                <a:spcPts val="0"/>
              </a:spcAft>
              <a:buNone/>
            </a:pPr>
            <a:r>
              <a:t/>
            </a:r>
            <a:endParaRPr sz="2300">
              <a:solidFill>
                <a:schemeClr val="dk1"/>
              </a:solidFill>
            </a:endParaRPr>
          </a:p>
        </p:txBody>
      </p:sp>
      <p:pic>
        <p:nvPicPr>
          <p:cNvPr id="109" name="Google Shape;109;p15"/>
          <p:cNvPicPr preferRelativeResize="0"/>
          <p:nvPr/>
        </p:nvPicPr>
        <p:blipFill rotWithShape="1">
          <a:blip r:embed="rId4">
            <a:alphaModFix/>
          </a:blip>
          <a:srcRect b="0" l="0" r="0" t="0"/>
          <a:stretch/>
        </p:blipFill>
        <p:spPr>
          <a:xfrm>
            <a:off x="6862877" y="1101586"/>
            <a:ext cx="4654825" cy="4654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descr="Public Speaker - Free Presentation Template for Google Slides and PowerPoint  | #06124" id="115" name="Google Shape;115;p16"/>
          <p:cNvPicPr preferRelativeResize="0"/>
          <p:nvPr/>
        </p:nvPicPr>
        <p:blipFill rotWithShape="1">
          <a:blip r:embed="rId3">
            <a:alphaModFix/>
          </a:blip>
          <a:srcRect b="4523" l="-1" r="40231" t="12523"/>
          <a:stretch/>
        </p:blipFill>
        <p:spPr>
          <a:xfrm>
            <a:off x="11042374" y="-4984"/>
            <a:ext cx="1149626" cy="1201136"/>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descr="A close up of a logo&#10;&#10;AI-generated content may be incorrect." id="116" name="Google Shape;116;p16"/>
          <p:cNvPicPr preferRelativeResize="0"/>
          <p:nvPr/>
        </p:nvPicPr>
        <p:blipFill rotWithShape="1">
          <a:blip r:embed="rId4">
            <a:alphaModFix/>
          </a:blip>
          <a:srcRect b="30658" l="22201" r="22736" t="18728"/>
          <a:stretch/>
        </p:blipFill>
        <p:spPr>
          <a:xfrm>
            <a:off x="9113520" y="6096264"/>
            <a:ext cx="2915920" cy="660565"/>
          </a:xfrm>
          <a:prstGeom prst="rect">
            <a:avLst/>
          </a:prstGeom>
          <a:noFill/>
          <a:ln>
            <a:noFill/>
          </a:ln>
        </p:spPr>
      </p:pic>
      <p:sp>
        <p:nvSpPr>
          <p:cNvPr id="117" name="Google Shape;117;p16"/>
          <p:cNvSpPr txBox="1"/>
          <p:nvPr/>
        </p:nvSpPr>
        <p:spPr>
          <a:xfrm>
            <a:off x="674298" y="48473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Introduction </a:t>
            </a:r>
            <a:br>
              <a:rPr b="1" lang="en-US" sz="4000">
                <a:solidFill>
                  <a:srgbClr val="FF0000"/>
                </a:solidFill>
                <a:latin typeface="Times New Roman"/>
                <a:ea typeface="Times New Roman"/>
                <a:cs typeface="Times New Roman"/>
                <a:sym typeface="Times New Roman"/>
              </a:rPr>
            </a:br>
            <a:endParaRPr b="1" sz="4000">
              <a:solidFill>
                <a:srgbClr val="FF0000"/>
              </a:solidFill>
              <a:latin typeface="Times New Roman"/>
              <a:ea typeface="Times New Roman"/>
              <a:cs typeface="Times New Roman"/>
              <a:sym typeface="Times New Roman"/>
            </a:endParaRPr>
          </a:p>
        </p:txBody>
      </p:sp>
      <p:sp>
        <p:nvSpPr>
          <p:cNvPr id="118" name="Google Shape;118;p16"/>
          <p:cNvSpPr txBox="1"/>
          <p:nvPr/>
        </p:nvSpPr>
        <p:spPr>
          <a:xfrm>
            <a:off x="674298" y="1102177"/>
            <a:ext cx="10843500" cy="6216300"/>
          </a:xfrm>
          <a:prstGeom prst="rect">
            <a:avLst/>
          </a:prstGeom>
          <a:noFill/>
          <a:ln>
            <a:noFill/>
          </a:ln>
        </p:spPr>
        <p:txBody>
          <a:bodyPr anchorCtr="0" anchor="t" bIns="45700" lIns="91425" spcFirstLastPara="1" rIns="91425" wrap="square" tIns="45700">
            <a:spAutoFit/>
          </a:bodyPr>
          <a:lstStyle/>
          <a:p>
            <a:pPr indent="-374650" lvl="0" marL="457200" rtl="0" algn="l">
              <a:lnSpc>
                <a:spcPct val="115000"/>
              </a:lnSpc>
              <a:spcBef>
                <a:spcPts val="1200"/>
              </a:spcBef>
              <a:spcAft>
                <a:spcPts val="0"/>
              </a:spcAft>
              <a:buClr>
                <a:schemeClr val="dk1"/>
              </a:buClr>
              <a:buSzPts val="2300"/>
              <a:buChar char="❖"/>
            </a:pPr>
            <a:r>
              <a:rPr lang="en-US" sz="2300">
                <a:solidFill>
                  <a:schemeClr val="dk1"/>
                </a:solidFill>
              </a:rPr>
              <a:t>Human-Computer Interaction is rapidly evolving toward more natural and contactless systems. Traditional media control relies on physical input devices such as keyboards, mice, or remote controls. However, advancements in Computer Vision now allow machines to interpret human gestures in real time using standard camera hardware.</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This project presents a </a:t>
            </a:r>
            <a:r>
              <a:rPr b="1" lang="en-US" sz="2300">
                <a:solidFill>
                  <a:schemeClr val="dk1"/>
                </a:solidFill>
              </a:rPr>
              <a:t>Hand Gesture Controlled YouTube Player</a:t>
            </a:r>
            <a:r>
              <a:rPr lang="en-US" sz="2300">
                <a:solidFill>
                  <a:schemeClr val="dk1"/>
                </a:solidFill>
              </a:rPr>
              <a:t> built using OpenCV and MediaPipe. The system detects hand landmarks from live webcam input, interprets finger positions and gestures, and converts them into media control actions such as play, pause, forward, backward, and volume adjustment.</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The objective is to demonstrate how real-time computer vision techniques can be applied to build intuitive, touchless control systems using low-cost hardware and efficient algorithms.</a:t>
            </a:r>
            <a:endParaRPr sz="2300">
              <a:solidFill>
                <a:schemeClr val="dk1"/>
              </a:solidFill>
            </a:endParaRPr>
          </a:p>
          <a:p>
            <a:pPr indent="0" lvl="0" marL="0" marR="0" rtl="0" algn="just">
              <a:lnSpc>
                <a:spcPct val="150000"/>
              </a:lnSpc>
              <a:spcBef>
                <a:spcPts val="1200"/>
              </a:spcBef>
              <a:spcAft>
                <a:spcPts val="0"/>
              </a:spcAft>
              <a:buNone/>
            </a:pPr>
            <a:r>
              <a:t/>
            </a:r>
            <a:endParaRPr sz="44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A close up of a logo&#10;&#10;AI-generated content may be incorrect." id="124" name="Google Shape;124;p17"/>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25" name="Google Shape;125;p17"/>
          <p:cNvSpPr txBox="1"/>
          <p:nvPr/>
        </p:nvSpPr>
        <p:spPr>
          <a:xfrm>
            <a:off x="674298" y="48473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Problem Statement </a:t>
            </a:r>
            <a:br>
              <a:rPr b="1" lang="en-US" sz="4000">
                <a:solidFill>
                  <a:srgbClr val="FF0000"/>
                </a:solidFill>
                <a:latin typeface="Times New Roman"/>
                <a:ea typeface="Times New Roman"/>
                <a:cs typeface="Times New Roman"/>
                <a:sym typeface="Times New Roman"/>
              </a:rPr>
            </a:br>
            <a:endParaRPr b="1" sz="4000">
              <a:solidFill>
                <a:srgbClr val="FF0000"/>
              </a:solidFill>
              <a:latin typeface="Times New Roman"/>
              <a:ea typeface="Times New Roman"/>
              <a:cs typeface="Times New Roman"/>
              <a:sym typeface="Times New Roman"/>
            </a:endParaRPr>
          </a:p>
        </p:txBody>
      </p:sp>
      <p:sp>
        <p:nvSpPr>
          <p:cNvPr id="126" name="Google Shape;126;p17"/>
          <p:cNvSpPr txBox="1"/>
          <p:nvPr/>
        </p:nvSpPr>
        <p:spPr>
          <a:xfrm>
            <a:off x="674298" y="1145301"/>
            <a:ext cx="11169300" cy="5755200"/>
          </a:xfrm>
          <a:prstGeom prst="rect">
            <a:avLst/>
          </a:prstGeom>
          <a:noFill/>
          <a:ln>
            <a:noFill/>
          </a:ln>
        </p:spPr>
        <p:txBody>
          <a:bodyPr anchorCtr="0" anchor="t" bIns="45700" lIns="91425" spcFirstLastPara="1" rIns="91425" wrap="square" tIns="45700">
            <a:spAutoFit/>
          </a:bodyPr>
          <a:lstStyle/>
          <a:p>
            <a:pPr indent="-368300" lvl="0" marL="457200" rtl="0" algn="l">
              <a:lnSpc>
                <a:spcPct val="115000"/>
              </a:lnSpc>
              <a:spcBef>
                <a:spcPts val="1200"/>
              </a:spcBef>
              <a:spcAft>
                <a:spcPts val="0"/>
              </a:spcAft>
              <a:buClr>
                <a:schemeClr val="dk1"/>
              </a:buClr>
              <a:buSzPts val="2200"/>
              <a:buChar char="❖"/>
            </a:pPr>
            <a:r>
              <a:rPr lang="en-US" sz="2200">
                <a:solidFill>
                  <a:schemeClr val="dk1"/>
                </a:solidFill>
              </a:rPr>
              <a:t>Traditional media control systems rely heavily on physical devices such as keyboards, mice, or remote controls. These interaction methods are not always intuitive, hygienic, or accessible, especially in environments where touchless operation is preferred. Existing gesture-based systems often require specialized hardware or lack real-time responsiveness when implemented using standard webcams.</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US" sz="2200">
                <a:solidFill>
                  <a:schemeClr val="dk1"/>
                </a:solidFill>
              </a:rPr>
              <a:t>There is a need for a </a:t>
            </a:r>
            <a:r>
              <a:rPr b="1" lang="en-US" sz="2200">
                <a:solidFill>
                  <a:schemeClr val="dk1"/>
                </a:solidFill>
              </a:rPr>
              <a:t>low-cost, real-time, and reliable hand gesture recognition system</a:t>
            </a:r>
            <a:r>
              <a:rPr lang="en-US" sz="2200">
                <a:solidFill>
                  <a:schemeClr val="dk1"/>
                </a:solidFill>
              </a:rPr>
              <a:t> that can accurately interpret human gestures using a normal camera and translate them into meaningful media control actions such as play, pause, seek, and volume adjustment.</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US" sz="2200">
                <a:solidFill>
                  <a:schemeClr val="dk1"/>
                </a:solidFill>
              </a:rPr>
              <a:t>This project addresses this problem by developing a </a:t>
            </a:r>
            <a:r>
              <a:rPr b="1" lang="en-US" sz="2200">
                <a:solidFill>
                  <a:schemeClr val="dk1"/>
                </a:solidFill>
              </a:rPr>
              <a:t>computer vision–based hand gesture control system</a:t>
            </a:r>
            <a:r>
              <a:rPr lang="en-US" sz="2200">
                <a:solidFill>
                  <a:schemeClr val="dk1"/>
                </a:solidFill>
              </a:rPr>
              <a:t> using OpenCV and MediaPipe, enabling intuitive and touch-free control of YouTube playback.</a:t>
            </a:r>
            <a:endParaRPr sz="2200">
              <a:solidFill>
                <a:schemeClr val="dk1"/>
              </a:solidFill>
            </a:endParaRPr>
          </a:p>
          <a:p>
            <a:pPr indent="0" lvl="0" marL="0" marR="0" rtl="0" algn="just">
              <a:lnSpc>
                <a:spcPct val="150000"/>
              </a:lnSpc>
              <a:spcBef>
                <a:spcPts val="1200"/>
              </a:spcBef>
              <a:spcAft>
                <a:spcPts val="0"/>
              </a:spcAft>
              <a:buNone/>
            </a:pPr>
            <a:r>
              <a:t/>
            </a:r>
            <a:endParaRPr sz="29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descr="A close up of a logo&#10;&#10;AI-generated content may be incorrect." id="132" name="Google Shape;132;p18"/>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33" name="Google Shape;133;p18"/>
          <p:cNvSpPr txBox="1"/>
          <p:nvPr/>
        </p:nvSpPr>
        <p:spPr>
          <a:xfrm>
            <a:off x="674298" y="48473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Business Problem Statement </a:t>
            </a:r>
            <a:br>
              <a:rPr b="1" lang="en-US" sz="4000">
                <a:solidFill>
                  <a:srgbClr val="FF0000"/>
                </a:solidFill>
                <a:latin typeface="Times New Roman"/>
                <a:ea typeface="Times New Roman"/>
                <a:cs typeface="Times New Roman"/>
                <a:sym typeface="Times New Roman"/>
              </a:rPr>
            </a:br>
            <a:endParaRPr b="1" sz="4000">
              <a:solidFill>
                <a:srgbClr val="FF0000"/>
              </a:solidFill>
              <a:latin typeface="Times New Roman"/>
              <a:ea typeface="Times New Roman"/>
              <a:cs typeface="Times New Roman"/>
              <a:sym typeface="Times New Roman"/>
            </a:endParaRPr>
          </a:p>
        </p:txBody>
      </p:sp>
      <p:sp>
        <p:nvSpPr>
          <p:cNvPr id="134" name="Google Shape;134;p18"/>
          <p:cNvSpPr txBox="1"/>
          <p:nvPr/>
        </p:nvSpPr>
        <p:spPr>
          <a:xfrm>
            <a:off x="674298" y="1145301"/>
            <a:ext cx="11169300" cy="4996200"/>
          </a:xfrm>
          <a:prstGeom prst="rect">
            <a:avLst/>
          </a:prstGeom>
          <a:noFill/>
          <a:ln>
            <a:noFill/>
          </a:ln>
        </p:spPr>
        <p:txBody>
          <a:bodyPr anchorCtr="0" anchor="t" bIns="45700" lIns="91425" spcFirstLastPara="1" rIns="91425" wrap="square" tIns="45700">
            <a:spAutoFit/>
          </a:bodyPr>
          <a:lstStyle/>
          <a:p>
            <a:pPr indent="-342900" lvl="0" marL="457200" rtl="0" algn="just">
              <a:lnSpc>
                <a:spcPct val="150000"/>
              </a:lnSpc>
              <a:spcBef>
                <a:spcPts val="0"/>
              </a:spcBef>
              <a:spcAft>
                <a:spcPts val="0"/>
              </a:spcAft>
              <a:buClr>
                <a:schemeClr val="dk1"/>
              </a:buClr>
              <a:buSzPts val="1800"/>
              <a:buChar char="➢"/>
            </a:pPr>
            <a:r>
              <a:rPr lang="en-US" sz="1800">
                <a:solidFill>
                  <a:schemeClr val="dk1"/>
                </a:solidFill>
              </a:rPr>
              <a:t>Increasing demand for </a:t>
            </a:r>
            <a:r>
              <a:rPr b="1" lang="en-US" sz="1800">
                <a:solidFill>
                  <a:schemeClr val="dk1"/>
                </a:solidFill>
              </a:rPr>
              <a:t>touchless and intuitive human-computer interaction systems</a:t>
            </a:r>
            <a:endParaRPr b="1" sz="1800">
              <a:solidFill>
                <a:schemeClr val="dk1"/>
              </a:solidFill>
            </a:endParaRPr>
          </a:p>
          <a:p>
            <a:pPr indent="-342900" lvl="0" marL="457200" rtl="0" algn="just">
              <a:lnSpc>
                <a:spcPct val="150000"/>
              </a:lnSpc>
              <a:spcBef>
                <a:spcPts val="0"/>
              </a:spcBef>
              <a:spcAft>
                <a:spcPts val="0"/>
              </a:spcAft>
              <a:buClr>
                <a:schemeClr val="dk1"/>
              </a:buClr>
              <a:buSzPts val="1800"/>
              <a:buChar char="➢"/>
            </a:pPr>
            <a:r>
              <a:rPr lang="en-US" sz="1800">
                <a:solidFill>
                  <a:schemeClr val="dk1"/>
                </a:solidFill>
              </a:rPr>
              <a:t>Traditional media control depends on </a:t>
            </a:r>
            <a:r>
              <a:rPr b="1" lang="en-US" sz="1800">
                <a:solidFill>
                  <a:schemeClr val="dk1"/>
                </a:solidFill>
              </a:rPr>
              <a:t>keyboards, remotes, and physical input devices</a:t>
            </a:r>
            <a:endParaRPr b="1" sz="1800">
              <a:solidFill>
                <a:schemeClr val="dk1"/>
              </a:solidFill>
            </a:endParaRPr>
          </a:p>
          <a:p>
            <a:pPr indent="-342900" lvl="0" marL="457200" rtl="0" algn="just">
              <a:lnSpc>
                <a:spcPct val="150000"/>
              </a:lnSpc>
              <a:spcBef>
                <a:spcPts val="0"/>
              </a:spcBef>
              <a:spcAft>
                <a:spcPts val="0"/>
              </a:spcAft>
              <a:buClr>
                <a:schemeClr val="dk1"/>
              </a:buClr>
              <a:buSzPts val="1800"/>
              <a:buChar char="➢"/>
            </a:pPr>
            <a:r>
              <a:rPr lang="en-US" sz="1800">
                <a:solidFill>
                  <a:schemeClr val="dk1"/>
                </a:solidFill>
              </a:rPr>
              <a:t>Existing gesture-control solutions often require </a:t>
            </a:r>
            <a:r>
              <a:rPr b="1" lang="en-US" sz="1800">
                <a:solidFill>
                  <a:schemeClr val="dk1"/>
                </a:solidFill>
              </a:rPr>
              <a:t>expensive hardware or specialized sensors</a:t>
            </a:r>
            <a:endParaRPr b="1" sz="1800">
              <a:solidFill>
                <a:schemeClr val="dk1"/>
              </a:solidFill>
            </a:endParaRPr>
          </a:p>
          <a:p>
            <a:pPr indent="-342900" lvl="0" marL="457200" rtl="0" algn="just">
              <a:lnSpc>
                <a:spcPct val="150000"/>
              </a:lnSpc>
              <a:spcBef>
                <a:spcPts val="0"/>
              </a:spcBef>
              <a:spcAft>
                <a:spcPts val="0"/>
              </a:spcAft>
              <a:buClr>
                <a:schemeClr val="dk1"/>
              </a:buClr>
              <a:buSzPts val="1800"/>
              <a:buChar char="➢"/>
            </a:pPr>
            <a:r>
              <a:rPr lang="en-US" sz="1800">
                <a:solidFill>
                  <a:schemeClr val="dk1"/>
                </a:solidFill>
              </a:rPr>
              <a:t>Lack of </a:t>
            </a:r>
            <a:r>
              <a:rPr b="1" lang="en-US" sz="1800">
                <a:solidFill>
                  <a:schemeClr val="dk1"/>
                </a:solidFill>
              </a:rPr>
              <a:t>low-cost, scalable, real-time gesture recognition systems</a:t>
            </a:r>
            <a:r>
              <a:rPr lang="en-US" sz="1800">
                <a:solidFill>
                  <a:schemeClr val="dk1"/>
                </a:solidFill>
              </a:rPr>
              <a:t> using standard webcams</a:t>
            </a:r>
            <a:endParaRPr sz="1800">
              <a:solidFill>
                <a:schemeClr val="dk1"/>
              </a:solidFill>
            </a:endParaRPr>
          </a:p>
          <a:p>
            <a:pPr indent="-342900" lvl="0" marL="457200" rtl="0" algn="just">
              <a:lnSpc>
                <a:spcPct val="150000"/>
              </a:lnSpc>
              <a:spcBef>
                <a:spcPts val="0"/>
              </a:spcBef>
              <a:spcAft>
                <a:spcPts val="0"/>
              </a:spcAft>
              <a:buClr>
                <a:schemeClr val="dk1"/>
              </a:buClr>
              <a:buSzPts val="1800"/>
              <a:buChar char="➢"/>
            </a:pPr>
            <a:r>
              <a:rPr lang="en-US" sz="1800">
                <a:solidFill>
                  <a:schemeClr val="dk1"/>
                </a:solidFill>
              </a:rPr>
              <a:t>Businesses need reliable gesture-based systems for:</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Smart homes</a:t>
            </a:r>
            <a:br>
              <a:rPr lang="en-US" sz="1800">
                <a:solidFill>
                  <a:schemeClr val="dk1"/>
                </a:solidFill>
              </a:rPr>
            </a:b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Interactive Applications</a:t>
            </a:r>
            <a:br>
              <a:rPr lang="en-US" sz="1800">
                <a:solidFill>
                  <a:schemeClr val="dk1"/>
                </a:solidFill>
              </a:rPr>
            </a:b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Presentation systems</a:t>
            </a:r>
            <a:br>
              <a:rPr lang="en-US" sz="1800">
                <a:solidFill>
                  <a:schemeClr val="dk1"/>
                </a:solidFill>
              </a:rPr>
            </a:b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Accessibility solutions</a:t>
            </a:r>
            <a:br>
              <a:rPr lang="en-US" sz="1800">
                <a:solidFill>
                  <a:schemeClr val="dk1"/>
                </a:solidFill>
              </a:rPr>
            </a:b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High implementation cost and limited scalability restrict adoption of advanced interaction systems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A close up of a logo&#10;&#10;AI-generated content may be incorrect." id="139" name="Google Shape;139;p19"/>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40" name="Google Shape;140;p19"/>
          <p:cNvSpPr txBox="1"/>
          <p:nvPr/>
        </p:nvSpPr>
        <p:spPr>
          <a:xfrm>
            <a:off x="674298" y="48473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Objective</a:t>
            </a:r>
            <a:endParaRPr/>
          </a:p>
        </p:txBody>
      </p:sp>
      <p:sp>
        <p:nvSpPr>
          <p:cNvPr id="141" name="Google Shape;141;p19"/>
          <p:cNvSpPr txBox="1"/>
          <p:nvPr/>
        </p:nvSpPr>
        <p:spPr>
          <a:xfrm>
            <a:off x="674298" y="1156185"/>
            <a:ext cx="10559700" cy="4809300"/>
          </a:xfrm>
          <a:prstGeom prst="rect">
            <a:avLst/>
          </a:prstGeom>
          <a:noFill/>
          <a:ln>
            <a:noFill/>
          </a:ln>
        </p:spPr>
        <p:txBody>
          <a:bodyPr anchorCtr="0" anchor="t" bIns="45700" lIns="91425" spcFirstLastPara="1" rIns="91425" wrap="square" tIns="45700">
            <a:spAutoFit/>
          </a:bodyPr>
          <a:lstStyle/>
          <a:p>
            <a:pPr indent="-400050" lvl="0" marL="457200" rtl="0" algn="l">
              <a:lnSpc>
                <a:spcPct val="115000"/>
              </a:lnSpc>
              <a:spcBef>
                <a:spcPts val="1200"/>
              </a:spcBef>
              <a:spcAft>
                <a:spcPts val="0"/>
              </a:spcAft>
              <a:buClr>
                <a:schemeClr val="dk1"/>
              </a:buClr>
              <a:buSzPts val="2700"/>
              <a:buChar char="•"/>
            </a:pPr>
            <a:r>
              <a:rPr lang="en-US" sz="2700">
                <a:solidFill>
                  <a:schemeClr val="dk1"/>
                </a:solidFill>
              </a:rPr>
              <a:t>Develop a </a:t>
            </a:r>
            <a:r>
              <a:rPr b="1" lang="en-US" sz="2700">
                <a:solidFill>
                  <a:schemeClr val="dk1"/>
                </a:solidFill>
              </a:rPr>
              <a:t>real-time hand gesture recognition system</a:t>
            </a:r>
            <a:r>
              <a:rPr lang="en-US" sz="2700">
                <a:solidFill>
                  <a:schemeClr val="dk1"/>
                </a:solidFill>
              </a:rPr>
              <a:t> using OpenCV and MediaPipe</a:t>
            </a:r>
            <a:endParaRPr sz="2700">
              <a:solidFill>
                <a:schemeClr val="dk1"/>
              </a:solidFill>
            </a:endParaRPr>
          </a:p>
          <a:p>
            <a:pPr indent="-400050" lvl="0" marL="457200" rtl="0" algn="l">
              <a:lnSpc>
                <a:spcPct val="115000"/>
              </a:lnSpc>
              <a:spcBef>
                <a:spcPts val="0"/>
              </a:spcBef>
              <a:spcAft>
                <a:spcPts val="0"/>
              </a:spcAft>
              <a:buClr>
                <a:schemeClr val="dk1"/>
              </a:buClr>
              <a:buSzPts val="2700"/>
              <a:buChar char="•"/>
            </a:pPr>
            <a:r>
              <a:rPr lang="en-US" sz="2700">
                <a:solidFill>
                  <a:schemeClr val="dk1"/>
                </a:solidFill>
              </a:rPr>
              <a:t>Detect and extract </a:t>
            </a:r>
            <a:r>
              <a:rPr b="1" lang="en-US" sz="2700">
                <a:solidFill>
                  <a:schemeClr val="dk1"/>
                </a:solidFill>
              </a:rPr>
              <a:t>21 hand landmarks</a:t>
            </a:r>
            <a:r>
              <a:rPr lang="en-US" sz="2700">
                <a:solidFill>
                  <a:schemeClr val="dk1"/>
                </a:solidFill>
              </a:rPr>
              <a:t> from live webcam input</a:t>
            </a:r>
            <a:endParaRPr sz="2700">
              <a:solidFill>
                <a:schemeClr val="dk1"/>
              </a:solidFill>
            </a:endParaRPr>
          </a:p>
          <a:p>
            <a:pPr indent="-400050" lvl="0" marL="457200" rtl="0" algn="l">
              <a:lnSpc>
                <a:spcPct val="115000"/>
              </a:lnSpc>
              <a:spcBef>
                <a:spcPts val="0"/>
              </a:spcBef>
              <a:spcAft>
                <a:spcPts val="0"/>
              </a:spcAft>
              <a:buClr>
                <a:schemeClr val="dk1"/>
              </a:buClr>
              <a:buSzPts val="2700"/>
              <a:buChar char="•"/>
            </a:pPr>
            <a:r>
              <a:rPr lang="en-US" sz="2700">
                <a:solidFill>
                  <a:schemeClr val="dk1"/>
                </a:solidFill>
              </a:rPr>
              <a:t>Compute a </a:t>
            </a:r>
            <a:r>
              <a:rPr b="1" lang="en-US" sz="2700">
                <a:solidFill>
                  <a:schemeClr val="dk1"/>
                </a:solidFill>
              </a:rPr>
              <a:t>hand bounding box</a:t>
            </a:r>
            <a:r>
              <a:rPr lang="en-US" sz="2700">
                <a:solidFill>
                  <a:schemeClr val="dk1"/>
                </a:solidFill>
              </a:rPr>
              <a:t> using coordinate extrema</a:t>
            </a:r>
            <a:endParaRPr sz="2700">
              <a:solidFill>
                <a:schemeClr val="dk1"/>
              </a:solidFill>
            </a:endParaRPr>
          </a:p>
          <a:p>
            <a:pPr indent="-400050" lvl="0" marL="457200" rtl="0" algn="l">
              <a:lnSpc>
                <a:spcPct val="115000"/>
              </a:lnSpc>
              <a:spcBef>
                <a:spcPts val="0"/>
              </a:spcBef>
              <a:spcAft>
                <a:spcPts val="0"/>
              </a:spcAft>
              <a:buClr>
                <a:schemeClr val="dk1"/>
              </a:buClr>
              <a:buSzPts val="2700"/>
              <a:buChar char="•"/>
            </a:pPr>
            <a:r>
              <a:rPr lang="en-US" sz="2700">
                <a:solidFill>
                  <a:schemeClr val="dk1"/>
                </a:solidFill>
              </a:rPr>
              <a:t>Implement </a:t>
            </a:r>
            <a:r>
              <a:rPr b="1" lang="en-US" sz="2700">
                <a:solidFill>
                  <a:schemeClr val="dk1"/>
                </a:solidFill>
              </a:rPr>
              <a:t>finger counting logic</a:t>
            </a:r>
            <a:r>
              <a:rPr lang="en-US" sz="2700">
                <a:solidFill>
                  <a:schemeClr val="dk1"/>
                </a:solidFill>
              </a:rPr>
              <a:t> using landmark position comparison</a:t>
            </a:r>
            <a:endParaRPr sz="2700">
              <a:solidFill>
                <a:schemeClr val="dk1"/>
              </a:solidFill>
            </a:endParaRPr>
          </a:p>
          <a:p>
            <a:pPr indent="-400050" lvl="0" marL="457200" rtl="0" algn="l">
              <a:lnSpc>
                <a:spcPct val="115000"/>
              </a:lnSpc>
              <a:spcBef>
                <a:spcPts val="0"/>
              </a:spcBef>
              <a:spcAft>
                <a:spcPts val="0"/>
              </a:spcAft>
              <a:buClr>
                <a:schemeClr val="dk1"/>
              </a:buClr>
              <a:buSzPts val="2700"/>
              <a:buChar char="•"/>
            </a:pPr>
            <a:r>
              <a:rPr lang="en-US" sz="2700">
                <a:solidFill>
                  <a:schemeClr val="dk1"/>
                </a:solidFill>
              </a:rPr>
              <a:t>Map finger-count gestures to </a:t>
            </a:r>
            <a:r>
              <a:rPr b="1" lang="en-US" sz="2700">
                <a:solidFill>
                  <a:schemeClr val="dk1"/>
                </a:solidFill>
              </a:rPr>
              <a:t>media control actions</a:t>
            </a:r>
            <a:endParaRPr b="1" sz="2700">
              <a:solidFill>
                <a:schemeClr val="dk1"/>
              </a:solidFill>
            </a:endParaRPr>
          </a:p>
          <a:p>
            <a:pPr indent="-400050" lvl="0" marL="457200" rtl="0" algn="l">
              <a:lnSpc>
                <a:spcPct val="115000"/>
              </a:lnSpc>
              <a:spcBef>
                <a:spcPts val="0"/>
              </a:spcBef>
              <a:spcAft>
                <a:spcPts val="0"/>
              </a:spcAft>
              <a:buClr>
                <a:schemeClr val="dk1"/>
              </a:buClr>
              <a:buSzPts val="2700"/>
              <a:buChar char="•"/>
            </a:pPr>
            <a:r>
              <a:rPr lang="en-US" sz="2700">
                <a:solidFill>
                  <a:schemeClr val="dk1"/>
                </a:solidFill>
              </a:rPr>
              <a:t>Integrate </a:t>
            </a:r>
            <a:r>
              <a:rPr b="1" lang="en-US" sz="2700">
                <a:solidFill>
                  <a:schemeClr val="dk1"/>
                </a:solidFill>
              </a:rPr>
              <a:t>PyAutoGUI</a:t>
            </a:r>
            <a:r>
              <a:rPr lang="en-US" sz="2700">
                <a:solidFill>
                  <a:schemeClr val="dk1"/>
                </a:solidFill>
              </a:rPr>
              <a:t> to simulate keyboard inputs</a:t>
            </a:r>
            <a:endParaRPr sz="2700">
              <a:solidFill>
                <a:schemeClr val="dk1"/>
              </a:solidFill>
            </a:endParaRPr>
          </a:p>
          <a:p>
            <a:pPr indent="-400050" lvl="0" marL="457200" rtl="0" algn="l">
              <a:lnSpc>
                <a:spcPct val="115000"/>
              </a:lnSpc>
              <a:spcBef>
                <a:spcPts val="0"/>
              </a:spcBef>
              <a:spcAft>
                <a:spcPts val="0"/>
              </a:spcAft>
              <a:buClr>
                <a:schemeClr val="dk1"/>
              </a:buClr>
              <a:buSzPts val="2700"/>
              <a:buChar char="•"/>
            </a:pPr>
            <a:r>
              <a:rPr lang="en-US" sz="2700">
                <a:solidFill>
                  <a:schemeClr val="dk1"/>
                </a:solidFill>
              </a:rPr>
              <a:t>Implement </a:t>
            </a:r>
            <a:r>
              <a:rPr b="1" lang="en-US" sz="2700">
                <a:solidFill>
                  <a:schemeClr val="dk1"/>
                </a:solidFill>
              </a:rPr>
              <a:t>debounce logic</a:t>
            </a:r>
            <a:r>
              <a:rPr lang="en-US" sz="2700">
                <a:solidFill>
                  <a:schemeClr val="dk1"/>
                </a:solidFill>
              </a:rPr>
              <a:t> to prevent repeated triggering</a:t>
            </a:r>
            <a:endParaRPr sz="2700">
              <a:solidFill>
                <a:schemeClr val="dk1"/>
              </a:solidFill>
            </a:endParaRPr>
          </a:p>
          <a:p>
            <a:pPr indent="-400050" lvl="0" marL="457200" rtl="0" algn="l">
              <a:lnSpc>
                <a:spcPct val="115000"/>
              </a:lnSpc>
              <a:spcBef>
                <a:spcPts val="0"/>
              </a:spcBef>
              <a:spcAft>
                <a:spcPts val="0"/>
              </a:spcAft>
              <a:buClr>
                <a:schemeClr val="dk1"/>
              </a:buClr>
              <a:buSzPts val="2700"/>
              <a:buChar char="•"/>
            </a:pPr>
            <a:r>
              <a:rPr lang="en-US" sz="2700">
                <a:solidFill>
                  <a:schemeClr val="dk1"/>
                </a:solidFill>
              </a:rPr>
              <a:t>Optimize the system for </a:t>
            </a:r>
            <a:r>
              <a:rPr b="1" lang="en-US" sz="2700">
                <a:solidFill>
                  <a:schemeClr val="dk1"/>
                </a:solidFill>
              </a:rPr>
              <a:t>stable real-time performance</a:t>
            </a:r>
            <a:endParaRPr sz="3400">
              <a:solidFill>
                <a:schemeClr val="dk1"/>
              </a:solidFill>
            </a:endParaRPr>
          </a:p>
        </p:txBody>
      </p:sp>
      <p:pic>
        <p:nvPicPr>
          <p:cNvPr descr="Objective Images - Free Download on Freepik" id="142" name="Google Shape;142;p19"/>
          <p:cNvPicPr preferRelativeResize="0"/>
          <p:nvPr/>
        </p:nvPicPr>
        <p:blipFill rotWithShape="1">
          <a:blip r:embed="rId4">
            <a:alphaModFix/>
          </a:blip>
          <a:srcRect b="0" l="0" r="0" t="0"/>
          <a:stretch/>
        </p:blipFill>
        <p:spPr>
          <a:xfrm>
            <a:off x="11016018" y="40282"/>
            <a:ext cx="1105019" cy="1105019"/>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descr="A close up of a logo&#10;&#10;AI-generated content may be incorrect." id="147" name="Google Shape;147;p20"/>
          <p:cNvPicPr preferRelativeResize="0"/>
          <p:nvPr/>
        </p:nvPicPr>
        <p:blipFill rotWithShape="1">
          <a:blip r:embed="rId3">
            <a:alphaModFix/>
          </a:blip>
          <a:srcRect b="30657" l="22201" r="22736" t="18728"/>
          <a:stretch/>
        </p:blipFill>
        <p:spPr>
          <a:xfrm>
            <a:off x="9113520" y="6096264"/>
            <a:ext cx="2915919" cy="660565"/>
          </a:xfrm>
          <a:prstGeom prst="rect">
            <a:avLst/>
          </a:prstGeom>
          <a:noFill/>
          <a:ln>
            <a:noFill/>
          </a:ln>
        </p:spPr>
      </p:pic>
      <p:sp>
        <p:nvSpPr>
          <p:cNvPr id="148" name="Google Shape;148;p20"/>
          <p:cNvSpPr txBox="1"/>
          <p:nvPr/>
        </p:nvSpPr>
        <p:spPr>
          <a:xfrm>
            <a:off x="674298" y="484736"/>
            <a:ext cx="9727200" cy="66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System Architecture</a:t>
            </a:r>
            <a:endParaRPr/>
          </a:p>
        </p:txBody>
      </p:sp>
      <p:sp>
        <p:nvSpPr>
          <p:cNvPr id="149" name="Google Shape;149;p20"/>
          <p:cNvSpPr txBox="1"/>
          <p:nvPr/>
        </p:nvSpPr>
        <p:spPr>
          <a:xfrm>
            <a:off x="674298" y="1156185"/>
            <a:ext cx="10559700" cy="5078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en-US" sz="2300">
                <a:solidFill>
                  <a:schemeClr val="dk1"/>
                </a:solidFill>
              </a:rPr>
              <a:t>Content :</a:t>
            </a:r>
            <a:endParaRPr b="1" sz="2300">
              <a:solidFill>
                <a:schemeClr val="dk1"/>
              </a:solidFill>
            </a:endParaRPr>
          </a:p>
          <a:p>
            <a:pPr indent="-374650" lvl="0" marL="457200" rtl="0" algn="l">
              <a:lnSpc>
                <a:spcPct val="115000"/>
              </a:lnSpc>
              <a:spcBef>
                <a:spcPts val="1200"/>
              </a:spcBef>
              <a:spcAft>
                <a:spcPts val="0"/>
              </a:spcAft>
              <a:buClr>
                <a:schemeClr val="dk1"/>
              </a:buClr>
              <a:buSzPts val="2300"/>
              <a:buChar char="●"/>
            </a:pPr>
            <a:r>
              <a:rPr lang="en-US" sz="2300">
                <a:solidFill>
                  <a:schemeClr val="dk1"/>
                </a:solidFill>
              </a:rPr>
              <a:t>Webcam captures real-time video stream</a:t>
            </a:r>
            <a:br>
              <a:rPr lang="en-US" sz="2300">
                <a:solidFill>
                  <a:schemeClr val="dk1"/>
                </a:solidFill>
              </a:rPr>
            </a:b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MediaPipe detects 21 hand landmarks</a:t>
            </a:r>
            <a:br>
              <a:rPr lang="en-US" sz="2300">
                <a:solidFill>
                  <a:schemeClr val="dk1"/>
                </a:solidFill>
              </a:rPr>
            </a:b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OpenCV processes frame and extracts coordinates</a:t>
            </a:r>
            <a:br>
              <a:rPr lang="en-US" sz="2300">
                <a:solidFill>
                  <a:schemeClr val="dk1"/>
                </a:solidFill>
              </a:rPr>
            </a:b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Finger counting logic interprets gestures</a:t>
            </a:r>
            <a:br>
              <a:rPr lang="en-US" sz="2300">
                <a:solidFill>
                  <a:schemeClr val="dk1"/>
                </a:solidFill>
              </a:rPr>
            </a:b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PyAutoGUI triggers keyboard-based media actions</a:t>
            </a:r>
            <a:br>
              <a:rPr lang="en-US" sz="2300">
                <a:solidFill>
                  <a:schemeClr val="dk1"/>
                </a:solidFill>
              </a:rPr>
            </a:b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Debounce mechanism ensures stable interaction</a:t>
            </a:r>
            <a:endParaRPr sz="3900">
              <a:solidFill>
                <a:schemeClr val="dk1"/>
              </a:solidFill>
            </a:endParaRPr>
          </a:p>
        </p:txBody>
      </p:sp>
      <p:pic>
        <p:nvPicPr>
          <p:cNvPr descr="Objective Images - Free Download on Freepik" id="150" name="Google Shape;150;p20"/>
          <p:cNvPicPr preferRelativeResize="0"/>
          <p:nvPr/>
        </p:nvPicPr>
        <p:blipFill rotWithShape="1">
          <a:blip r:embed="rId4">
            <a:alphaModFix/>
          </a:blip>
          <a:srcRect b="0" l="0" r="0" t="0"/>
          <a:stretch/>
        </p:blipFill>
        <p:spPr>
          <a:xfrm>
            <a:off x="11016018" y="40282"/>
            <a:ext cx="1104900" cy="1104900"/>
          </a:xfrm>
          <a:prstGeom prst="roundRect">
            <a:avLst>
              <a:gd fmla="val 8594" name="adj"/>
            </a:avLst>
          </a:prstGeom>
          <a:solidFill>
            <a:srgbClr val="ECECEC"/>
          </a:solidFill>
          <a:ln>
            <a:noFill/>
          </a:ln>
          <a:effectLst>
            <a:reflection blurRad="0" dir="5400000" dist="5000" endA="0" endPos="28000" fadeDir="5400012" kx="0" rotWithShape="0" algn="bl" stA="38000" stPos="0" sy="-100000" ky="0"/>
          </a:effectLst>
        </p:spPr>
      </p:pic>
      <p:sp>
        <p:nvSpPr>
          <p:cNvPr id="151" name="Google Shape;151;p20"/>
          <p:cNvSpPr/>
          <p:nvPr/>
        </p:nvSpPr>
        <p:spPr>
          <a:xfrm>
            <a:off x="8199025" y="993675"/>
            <a:ext cx="2292900" cy="660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solidFill>
                  <a:srgbClr val="CC4125"/>
                </a:solidFill>
                <a:latin typeface="Calibri"/>
                <a:ea typeface="Calibri"/>
                <a:cs typeface="Calibri"/>
                <a:sym typeface="Calibri"/>
              </a:rPr>
              <a:t>Web Cam</a:t>
            </a:r>
            <a:endParaRPr b="1" sz="2600">
              <a:solidFill>
                <a:srgbClr val="CC4125"/>
              </a:solidFill>
              <a:latin typeface="Calibri"/>
              <a:ea typeface="Calibri"/>
              <a:cs typeface="Calibri"/>
              <a:sym typeface="Calibri"/>
            </a:endParaRPr>
          </a:p>
        </p:txBody>
      </p:sp>
      <p:sp>
        <p:nvSpPr>
          <p:cNvPr id="152" name="Google Shape;152;p20"/>
          <p:cNvSpPr/>
          <p:nvPr/>
        </p:nvSpPr>
        <p:spPr>
          <a:xfrm>
            <a:off x="8199175" y="1743975"/>
            <a:ext cx="2292900" cy="750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rgbClr val="C00000"/>
                </a:solidFill>
                <a:latin typeface="Calibri"/>
                <a:ea typeface="Calibri"/>
                <a:cs typeface="Calibri"/>
                <a:sym typeface="Calibri"/>
              </a:rPr>
              <a:t>MediaPipe </a:t>
            </a:r>
            <a:endParaRPr b="1" sz="2500">
              <a:solidFill>
                <a:srgbClr val="C00000"/>
              </a:solidFill>
              <a:latin typeface="Calibri"/>
              <a:ea typeface="Calibri"/>
              <a:cs typeface="Calibri"/>
              <a:sym typeface="Calibri"/>
            </a:endParaRPr>
          </a:p>
        </p:txBody>
      </p:sp>
      <p:sp>
        <p:nvSpPr>
          <p:cNvPr id="153" name="Google Shape;153;p20"/>
          <p:cNvSpPr/>
          <p:nvPr/>
        </p:nvSpPr>
        <p:spPr>
          <a:xfrm>
            <a:off x="8198875" y="3357875"/>
            <a:ext cx="2292900" cy="750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C00000"/>
                </a:solidFill>
                <a:latin typeface="Calibri"/>
                <a:ea typeface="Calibri"/>
                <a:cs typeface="Calibri"/>
                <a:sym typeface="Calibri"/>
              </a:rPr>
              <a:t>Gesture Logic</a:t>
            </a:r>
            <a:endParaRPr b="1" sz="2400">
              <a:solidFill>
                <a:srgbClr val="C00000"/>
              </a:solidFill>
              <a:latin typeface="Calibri"/>
              <a:ea typeface="Calibri"/>
              <a:cs typeface="Calibri"/>
              <a:sym typeface="Calibri"/>
            </a:endParaRPr>
          </a:p>
        </p:txBody>
      </p:sp>
      <p:sp>
        <p:nvSpPr>
          <p:cNvPr id="154" name="Google Shape;154;p20"/>
          <p:cNvSpPr/>
          <p:nvPr/>
        </p:nvSpPr>
        <p:spPr>
          <a:xfrm>
            <a:off x="8199175" y="2550925"/>
            <a:ext cx="2292900" cy="750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2400">
                <a:solidFill>
                  <a:srgbClr val="C00000"/>
                </a:solidFill>
                <a:latin typeface="Calibri"/>
                <a:ea typeface="Calibri"/>
                <a:cs typeface="Calibri"/>
                <a:sym typeface="Calibri"/>
              </a:rPr>
              <a:t>OpenCV Processing </a:t>
            </a:r>
            <a:endParaRPr b="1" sz="2400">
              <a:solidFill>
                <a:srgbClr val="C00000"/>
              </a:solidFill>
              <a:latin typeface="Calibri"/>
              <a:ea typeface="Calibri"/>
              <a:cs typeface="Calibri"/>
              <a:sym typeface="Calibri"/>
            </a:endParaRPr>
          </a:p>
        </p:txBody>
      </p:sp>
      <p:sp>
        <p:nvSpPr>
          <p:cNvPr id="155" name="Google Shape;155;p20"/>
          <p:cNvSpPr/>
          <p:nvPr/>
        </p:nvSpPr>
        <p:spPr>
          <a:xfrm>
            <a:off x="8198875" y="4164825"/>
            <a:ext cx="2292900" cy="750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C00000"/>
                </a:solidFill>
                <a:latin typeface="Calibri"/>
                <a:ea typeface="Calibri"/>
                <a:cs typeface="Calibri"/>
                <a:sym typeface="Calibri"/>
              </a:rPr>
              <a:t>PyAutoGUI</a:t>
            </a:r>
            <a:endParaRPr b="1" sz="2400">
              <a:solidFill>
                <a:srgbClr val="C00000"/>
              </a:solidFill>
              <a:latin typeface="Calibri"/>
              <a:ea typeface="Calibri"/>
              <a:cs typeface="Calibri"/>
              <a:sym typeface="Calibri"/>
            </a:endParaRPr>
          </a:p>
        </p:txBody>
      </p:sp>
      <p:sp>
        <p:nvSpPr>
          <p:cNvPr id="156" name="Google Shape;156;p20"/>
          <p:cNvSpPr/>
          <p:nvPr/>
        </p:nvSpPr>
        <p:spPr>
          <a:xfrm>
            <a:off x="8198875" y="4971775"/>
            <a:ext cx="2292900" cy="750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rgbClr val="C00000"/>
                </a:solidFill>
                <a:latin typeface="Calibri"/>
                <a:ea typeface="Calibri"/>
                <a:cs typeface="Calibri"/>
                <a:sym typeface="Calibri"/>
              </a:rPr>
              <a:t>YouTube</a:t>
            </a:r>
            <a:endParaRPr b="1" sz="2500">
              <a:solidFill>
                <a:srgbClr val="C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A close up of a logo&#10;&#10;AI-generated content may be incorrect." id="161" name="Google Shape;161;p21"/>
          <p:cNvPicPr preferRelativeResize="0"/>
          <p:nvPr/>
        </p:nvPicPr>
        <p:blipFill rotWithShape="1">
          <a:blip r:embed="rId3">
            <a:alphaModFix/>
          </a:blip>
          <a:srcRect b="30657" l="22201" r="22736" t="18728"/>
          <a:stretch/>
        </p:blipFill>
        <p:spPr>
          <a:xfrm>
            <a:off x="9113520" y="6096264"/>
            <a:ext cx="2915919" cy="660565"/>
          </a:xfrm>
          <a:prstGeom prst="rect">
            <a:avLst/>
          </a:prstGeom>
          <a:noFill/>
          <a:ln>
            <a:noFill/>
          </a:ln>
        </p:spPr>
      </p:pic>
      <p:sp>
        <p:nvSpPr>
          <p:cNvPr id="162" name="Google Shape;162;p21"/>
          <p:cNvSpPr txBox="1"/>
          <p:nvPr/>
        </p:nvSpPr>
        <p:spPr>
          <a:xfrm>
            <a:off x="674298" y="484736"/>
            <a:ext cx="9727200" cy="66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Methodology</a:t>
            </a:r>
            <a:endParaRPr/>
          </a:p>
        </p:txBody>
      </p:sp>
      <p:sp>
        <p:nvSpPr>
          <p:cNvPr id="163" name="Google Shape;163;p21"/>
          <p:cNvSpPr txBox="1"/>
          <p:nvPr/>
        </p:nvSpPr>
        <p:spPr>
          <a:xfrm>
            <a:off x="674298" y="1156185"/>
            <a:ext cx="10559700" cy="5619600"/>
          </a:xfrm>
          <a:prstGeom prst="rect">
            <a:avLst/>
          </a:prstGeom>
          <a:noFill/>
          <a:ln>
            <a:noFill/>
          </a:ln>
        </p:spPr>
        <p:txBody>
          <a:bodyPr anchorCtr="0" anchor="t" bIns="45700" lIns="91425" spcFirstLastPara="1" rIns="91425" wrap="square" tIns="45700">
            <a:spAutoFit/>
          </a:bodyPr>
          <a:lstStyle/>
          <a:p>
            <a:pPr indent="-285750" lvl="0" marL="457200" rtl="0" algn="l">
              <a:lnSpc>
                <a:spcPct val="115000"/>
              </a:lnSpc>
              <a:spcBef>
                <a:spcPts val="1200"/>
              </a:spcBef>
              <a:spcAft>
                <a:spcPts val="0"/>
              </a:spcAft>
              <a:buClr>
                <a:schemeClr val="dk1"/>
              </a:buClr>
              <a:buSzPts val="900"/>
              <a:buChar char="●"/>
            </a:pPr>
            <a:r>
              <a:rPr b="1" lang="en-US" sz="2100">
                <a:solidFill>
                  <a:schemeClr val="dk1"/>
                </a:solidFill>
              </a:rPr>
              <a:t>Capture live video frames using OpenCV</a:t>
            </a:r>
            <a:br>
              <a:rPr b="1" lang="en-US" sz="2100">
                <a:solidFill>
                  <a:schemeClr val="dk1"/>
                </a:solidFill>
              </a:rPr>
            </a:br>
            <a:endParaRPr b="1" sz="21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2100">
                <a:solidFill>
                  <a:schemeClr val="dk1"/>
                </a:solidFill>
              </a:rPr>
              <a:t>Convert frame to RGB for MediaPipe processing</a:t>
            </a:r>
            <a:br>
              <a:rPr b="1" lang="en-US" sz="2100">
                <a:solidFill>
                  <a:schemeClr val="dk1"/>
                </a:solidFill>
              </a:rPr>
            </a:br>
            <a:endParaRPr b="1" sz="21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2100">
                <a:solidFill>
                  <a:schemeClr val="dk1"/>
                </a:solidFill>
              </a:rPr>
              <a:t>Detect hand landmarks</a:t>
            </a:r>
            <a:br>
              <a:rPr b="1" lang="en-US" sz="2100">
                <a:solidFill>
                  <a:schemeClr val="dk1"/>
                </a:solidFill>
              </a:rPr>
            </a:br>
            <a:endParaRPr b="1" sz="21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2100">
                <a:solidFill>
                  <a:schemeClr val="dk1"/>
                </a:solidFill>
              </a:rPr>
              <a:t>Extract landmark coordinates</a:t>
            </a:r>
            <a:br>
              <a:rPr b="1" lang="en-US" sz="2100">
                <a:solidFill>
                  <a:schemeClr val="dk1"/>
                </a:solidFill>
              </a:rPr>
            </a:br>
            <a:endParaRPr b="1" sz="21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2100">
                <a:solidFill>
                  <a:schemeClr val="dk1"/>
                </a:solidFill>
              </a:rPr>
              <a:t>Compute bounding box</a:t>
            </a:r>
            <a:br>
              <a:rPr b="1" lang="en-US" sz="2100">
                <a:solidFill>
                  <a:schemeClr val="dk1"/>
                </a:solidFill>
              </a:rPr>
            </a:br>
            <a:endParaRPr b="1" sz="21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2100">
                <a:solidFill>
                  <a:schemeClr val="dk1"/>
                </a:solidFill>
              </a:rPr>
              <a:t>Apply finger counting logic</a:t>
            </a:r>
            <a:br>
              <a:rPr b="1" lang="en-US" sz="2100">
                <a:solidFill>
                  <a:schemeClr val="dk1"/>
                </a:solidFill>
              </a:rPr>
            </a:br>
            <a:endParaRPr b="1" sz="21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2100">
                <a:solidFill>
                  <a:schemeClr val="dk1"/>
                </a:solidFill>
              </a:rPr>
              <a:t>Map gesture to action</a:t>
            </a:r>
            <a:br>
              <a:rPr b="1" lang="en-US" sz="2100">
                <a:solidFill>
                  <a:schemeClr val="dk1"/>
                </a:solidFill>
              </a:rPr>
            </a:br>
            <a:endParaRPr b="1" sz="21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2100">
                <a:solidFill>
                  <a:schemeClr val="dk1"/>
                </a:solidFill>
              </a:rPr>
              <a:t>Apply debounce logic</a:t>
            </a:r>
            <a:endParaRPr b="1" sz="2100">
              <a:solidFill>
                <a:schemeClr val="dk1"/>
              </a:solidFill>
            </a:endParaRPr>
          </a:p>
        </p:txBody>
      </p:sp>
      <p:pic>
        <p:nvPicPr>
          <p:cNvPr descr="Objective Images - Free Download on Freepik" id="164" name="Google Shape;164;p21"/>
          <p:cNvPicPr preferRelativeResize="0"/>
          <p:nvPr/>
        </p:nvPicPr>
        <p:blipFill rotWithShape="1">
          <a:blip r:embed="rId4">
            <a:alphaModFix/>
          </a:blip>
          <a:srcRect b="0" l="0" r="0" t="0"/>
          <a:stretch/>
        </p:blipFill>
        <p:spPr>
          <a:xfrm>
            <a:off x="11016018" y="40282"/>
            <a:ext cx="1104900" cy="1104900"/>
          </a:xfrm>
          <a:prstGeom prst="roundRect">
            <a:avLst>
              <a:gd fmla="val 8594" name="adj"/>
            </a:avLst>
          </a:prstGeom>
          <a:solidFill>
            <a:srgbClr val="ECECEC"/>
          </a:solidFill>
          <a:ln>
            <a:noFill/>
          </a:ln>
          <a:effectLst>
            <a:reflection blurRad="0" dir="5400000" dist="5000" endA="0" endPos="28000" fadeDir="5400012" kx="0" rotWithShape="0" algn="bl" stA="38000" stPos="0" sy="-100000" ky="0"/>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A close up of a logo&#10;&#10;AI-generated content may be incorrect." id="169" name="Google Shape;169;p22"/>
          <p:cNvPicPr preferRelativeResize="0"/>
          <p:nvPr/>
        </p:nvPicPr>
        <p:blipFill rotWithShape="1">
          <a:blip r:embed="rId3">
            <a:alphaModFix/>
          </a:blip>
          <a:srcRect b="30657" l="22201" r="22736" t="18728"/>
          <a:stretch/>
        </p:blipFill>
        <p:spPr>
          <a:xfrm>
            <a:off x="9113520" y="6096264"/>
            <a:ext cx="2915919" cy="660565"/>
          </a:xfrm>
          <a:prstGeom prst="rect">
            <a:avLst/>
          </a:prstGeom>
          <a:noFill/>
          <a:ln>
            <a:noFill/>
          </a:ln>
        </p:spPr>
      </p:pic>
      <p:sp>
        <p:nvSpPr>
          <p:cNvPr id="170" name="Google Shape;170;p22"/>
          <p:cNvSpPr txBox="1"/>
          <p:nvPr/>
        </p:nvSpPr>
        <p:spPr>
          <a:xfrm>
            <a:off x="674298" y="484736"/>
            <a:ext cx="9727200" cy="66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Hand Landmark Detection</a:t>
            </a:r>
            <a:endParaRPr/>
          </a:p>
        </p:txBody>
      </p:sp>
      <p:sp>
        <p:nvSpPr>
          <p:cNvPr id="171" name="Google Shape;171;p22"/>
          <p:cNvSpPr txBox="1"/>
          <p:nvPr/>
        </p:nvSpPr>
        <p:spPr>
          <a:xfrm>
            <a:off x="674298" y="1156185"/>
            <a:ext cx="10559700" cy="2646000"/>
          </a:xfrm>
          <a:prstGeom prst="rect">
            <a:avLst/>
          </a:prstGeom>
          <a:noFill/>
          <a:ln>
            <a:noFill/>
          </a:ln>
        </p:spPr>
        <p:txBody>
          <a:bodyPr anchorCtr="0" anchor="t" bIns="45700" lIns="91425" spcFirstLastPara="1" rIns="91425" wrap="square" tIns="45700">
            <a:spAutoFit/>
          </a:bodyPr>
          <a:lstStyle/>
          <a:p>
            <a:pPr indent="-285750" lvl="0" marL="457200" rtl="0" algn="l">
              <a:lnSpc>
                <a:spcPct val="115000"/>
              </a:lnSpc>
              <a:spcBef>
                <a:spcPts val="1200"/>
              </a:spcBef>
              <a:spcAft>
                <a:spcPts val="0"/>
              </a:spcAft>
              <a:buClr>
                <a:schemeClr val="dk1"/>
              </a:buClr>
              <a:buSzPts val="900"/>
              <a:buChar char="●"/>
            </a:pPr>
            <a:r>
              <a:rPr b="1" lang="en-US" sz="2100">
                <a:solidFill>
                  <a:schemeClr val="dk1"/>
                </a:solidFill>
              </a:rPr>
              <a:t>MediaPipe detects 21 key hand points</a:t>
            </a:r>
            <a:br>
              <a:rPr b="1" lang="en-US" sz="2100">
                <a:solidFill>
                  <a:schemeClr val="dk1"/>
                </a:solidFill>
              </a:rPr>
            </a:br>
            <a:endParaRPr b="1" sz="21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2100">
                <a:solidFill>
                  <a:schemeClr val="dk1"/>
                </a:solidFill>
              </a:rPr>
              <a:t>Each landmark provides normalized (x, y) coordinates</a:t>
            </a:r>
            <a:br>
              <a:rPr b="1" lang="en-US" sz="2100">
                <a:solidFill>
                  <a:schemeClr val="dk1"/>
                </a:solidFill>
              </a:rPr>
            </a:br>
            <a:endParaRPr b="1" sz="21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2100">
                <a:solidFill>
                  <a:schemeClr val="dk1"/>
                </a:solidFill>
              </a:rPr>
              <a:t>Coordinates converted to pixel values</a:t>
            </a:r>
            <a:br>
              <a:rPr b="1" lang="en-US" sz="2100">
                <a:solidFill>
                  <a:schemeClr val="dk1"/>
                </a:solidFill>
              </a:rPr>
            </a:br>
            <a:endParaRPr b="1" sz="21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2100">
                <a:solidFill>
                  <a:schemeClr val="dk1"/>
                </a:solidFill>
              </a:rPr>
              <a:t>Used for gesture computation</a:t>
            </a:r>
            <a:endParaRPr b="1" sz="2100">
              <a:solidFill>
                <a:schemeClr val="dk1"/>
              </a:solidFill>
            </a:endParaRPr>
          </a:p>
        </p:txBody>
      </p:sp>
      <p:pic>
        <p:nvPicPr>
          <p:cNvPr descr="Objective Images - Free Download on Freepik" id="172" name="Google Shape;172;p22"/>
          <p:cNvPicPr preferRelativeResize="0"/>
          <p:nvPr/>
        </p:nvPicPr>
        <p:blipFill rotWithShape="1">
          <a:blip r:embed="rId4">
            <a:alphaModFix/>
          </a:blip>
          <a:srcRect b="0" l="0" r="0" t="0"/>
          <a:stretch/>
        </p:blipFill>
        <p:spPr>
          <a:xfrm>
            <a:off x="11016018" y="40282"/>
            <a:ext cx="1104900" cy="1104900"/>
          </a:xfrm>
          <a:prstGeom prst="roundRect">
            <a:avLst>
              <a:gd fmla="val 8594" name="adj"/>
            </a:avLst>
          </a:prstGeom>
          <a:solidFill>
            <a:srgbClr val="ECECEC"/>
          </a:solidFill>
          <a:ln>
            <a:noFill/>
          </a:ln>
          <a:effectLst>
            <a:reflection blurRad="0" dir="5400000" dist="5000" endA="0" endPos="28000" fadeDir="5400012" kx="0" rotWithShape="0" algn="bl" stA="38000" stPos="0" sy="-100000" ky="0"/>
          </a:effectLst>
        </p:spPr>
      </p:pic>
      <p:pic>
        <p:nvPicPr>
          <p:cNvPr id="173" name="Google Shape;173;p22"/>
          <p:cNvPicPr preferRelativeResize="0"/>
          <p:nvPr/>
        </p:nvPicPr>
        <p:blipFill>
          <a:blip r:embed="rId5">
            <a:alphaModFix/>
          </a:blip>
          <a:stretch>
            <a:fillRect/>
          </a:stretch>
        </p:blipFill>
        <p:spPr>
          <a:xfrm>
            <a:off x="902825" y="3918050"/>
            <a:ext cx="7935324" cy="2646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descr="A close up of a logo&#10;&#10;AI-generated content may be incorrect." id="178" name="Google Shape;178;p23"/>
          <p:cNvPicPr preferRelativeResize="0"/>
          <p:nvPr/>
        </p:nvPicPr>
        <p:blipFill rotWithShape="1">
          <a:blip r:embed="rId3">
            <a:alphaModFix/>
          </a:blip>
          <a:srcRect b="30657" l="22201" r="22736" t="18728"/>
          <a:stretch/>
        </p:blipFill>
        <p:spPr>
          <a:xfrm>
            <a:off x="9113520" y="6096264"/>
            <a:ext cx="2915919" cy="660565"/>
          </a:xfrm>
          <a:prstGeom prst="rect">
            <a:avLst/>
          </a:prstGeom>
          <a:noFill/>
          <a:ln>
            <a:noFill/>
          </a:ln>
        </p:spPr>
      </p:pic>
      <p:sp>
        <p:nvSpPr>
          <p:cNvPr id="179" name="Google Shape;179;p23"/>
          <p:cNvSpPr txBox="1"/>
          <p:nvPr/>
        </p:nvSpPr>
        <p:spPr>
          <a:xfrm>
            <a:off x="674298" y="484736"/>
            <a:ext cx="9727200" cy="66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Finger Counting Logic</a:t>
            </a:r>
            <a:endParaRPr/>
          </a:p>
        </p:txBody>
      </p:sp>
      <p:sp>
        <p:nvSpPr>
          <p:cNvPr id="180" name="Google Shape;180;p23"/>
          <p:cNvSpPr txBox="1"/>
          <p:nvPr/>
        </p:nvSpPr>
        <p:spPr>
          <a:xfrm>
            <a:off x="674298" y="1156185"/>
            <a:ext cx="10559700" cy="5273400"/>
          </a:xfrm>
          <a:prstGeom prst="rect">
            <a:avLst/>
          </a:prstGeom>
          <a:noFill/>
          <a:ln>
            <a:noFill/>
          </a:ln>
        </p:spPr>
        <p:txBody>
          <a:bodyPr anchorCtr="0" anchor="t" bIns="45700" lIns="91425" spcFirstLastPara="1" rIns="91425" wrap="square" tIns="45700">
            <a:spAutoFit/>
          </a:bodyPr>
          <a:lstStyle/>
          <a:p>
            <a:pPr indent="-361950" lvl="0" marL="457200" rtl="0" algn="l">
              <a:lnSpc>
                <a:spcPct val="115000"/>
              </a:lnSpc>
              <a:spcBef>
                <a:spcPts val="1200"/>
              </a:spcBef>
              <a:spcAft>
                <a:spcPts val="0"/>
              </a:spcAft>
              <a:buClr>
                <a:schemeClr val="dk1"/>
              </a:buClr>
              <a:buSzPts val="2100"/>
              <a:buChar char="●"/>
            </a:pPr>
            <a:r>
              <a:rPr b="1" lang="en-US" sz="3300">
                <a:solidFill>
                  <a:schemeClr val="dk1"/>
                </a:solidFill>
              </a:rPr>
              <a:t>Thumb detected using horizontal comparison</a:t>
            </a:r>
            <a:br>
              <a:rPr b="1" lang="en-US" sz="3300">
                <a:solidFill>
                  <a:schemeClr val="dk1"/>
                </a:solidFill>
              </a:rPr>
            </a:br>
            <a:endParaRPr b="1" sz="3300">
              <a:solidFill>
                <a:schemeClr val="dk1"/>
              </a:solidFill>
            </a:endParaRPr>
          </a:p>
          <a:p>
            <a:pPr indent="-361950" lvl="0" marL="457200" rtl="0" algn="l">
              <a:lnSpc>
                <a:spcPct val="115000"/>
              </a:lnSpc>
              <a:spcBef>
                <a:spcPts val="0"/>
              </a:spcBef>
              <a:spcAft>
                <a:spcPts val="0"/>
              </a:spcAft>
              <a:buClr>
                <a:schemeClr val="dk1"/>
              </a:buClr>
              <a:buSzPts val="2100"/>
              <a:buChar char="●"/>
            </a:pPr>
            <a:r>
              <a:rPr b="1" lang="en-US" sz="3300">
                <a:solidFill>
                  <a:schemeClr val="dk1"/>
                </a:solidFill>
              </a:rPr>
              <a:t>Other fingers detected using vertical comparison</a:t>
            </a:r>
            <a:br>
              <a:rPr b="1" lang="en-US" sz="3300">
                <a:solidFill>
                  <a:schemeClr val="dk1"/>
                </a:solidFill>
              </a:rPr>
            </a:br>
            <a:endParaRPr b="1" sz="3300">
              <a:solidFill>
                <a:schemeClr val="dk1"/>
              </a:solidFill>
            </a:endParaRPr>
          </a:p>
          <a:p>
            <a:pPr indent="-361950" lvl="0" marL="457200" rtl="0" algn="l">
              <a:lnSpc>
                <a:spcPct val="115000"/>
              </a:lnSpc>
              <a:spcBef>
                <a:spcPts val="0"/>
              </a:spcBef>
              <a:spcAft>
                <a:spcPts val="0"/>
              </a:spcAft>
              <a:buClr>
                <a:schemeClr val="dk1"/>
              </a:buClr>
              <a:buSzPts val="2100"/>
              <a:buChar char="●"/>
            </a:pPr>
            <a:r>
              <a:rPr b="1" lang="en-US" sz="3300">
                <a:solidFill>
                  <a:schemeClr val="dk1"/>
                </a:solidFill>
              </a:rPr>
              <a:t>Compare fingertip with lower joint landmark</a:t>
            </a:r>
            <a:br>
              <a:rPr b="1" lang="en-US" sz="3300">
                <a:solidFill>
                  <a:schemeClr val="dk1"/>
                </a:solidFill>
              </a:rPr>
            </a:br>
            <a:endParaRPr b="1" sz="3300">
              <a:solidFill>
                <a:schemeClr val="dk1"/>
              </a:solidFill>
            </a:endParaRPr>
          </a:p>
          <a:p>
            <a:pPr indent="-361950" lvl="0" marL="457200" rtl="0" algn="l">
              <a:lnSpc>
                <a:spcPct val="115000"/>
              </a:lnSpc>
              <a:spcBef>
                <a:spcPts val="0"/>
              </a:spcBef>
              <a:spcAft>
                <a:spcPts val="0"/>
              </a:spcAft>
              <a:buClr>
                <a:schemeClr val="dk1"/>
              </a:buClr>
              <a:buSzPts val="2100"/>
              <a:buChar char="●"/>
            </a:pPr>
            <a:r>
              <a:rPr b="1" lang="en-US" sz="3300">
                <a:solidFill>
                  <a:schemeClr val="dk1"/>
                </a:solidFill>
              </a:rPr>
              <a:t>Count number of raised fingers</a:t>
            </a:r>
            <a:br>
              <a:rPr b="1" lang="en-US" sz="3300">
                <a:solidFill>
                  <a:schemeClr val="dk1"/>
                </a:solidFill>
              </a:rPr>
            </a:br>
            <a:endParaRPr b="1" sz="3300">
              <a:solidFill>
                <a:schemeClr val="dk1"/>
              </a:solidFill>
            </a:endParaRPr>
          </a:p>
          <a:p>
            <a:pPr indent="-361950" lvl="0" marL="457200" rtl="0" algn="l">
              <a:lnSpc>
                <a:spcPct val="115000"/>
              </a:lnSpc>
              <a:spcBef>
                <a:spcPts val="0"/>
              </a:spcBef>
              <a:spcAft>
                <a:spcPts val="0"/>
              </a:spcAft>
              <a:buClr>
                <a:schemeClr val="dk1"/>
              </a:buClr>
              <a:buSzPts val="2100"/>
              <a:buChar char="●"/>
            </a:pPr>
            <a:r>
              <a:rPr b="1" lang="en-US" sz="3300">
                <a:solidFill>
                  <a:schemeClr val="dk1"/>
                </a:solidFill>
              </a:rPr>
              <a:t>totalFingers = fingers.count(1)</a:t>
            </a:r>
            <a:endParaRPr b="1" sz="3300">
              <a:solidFill>
                <a:schemeClr val="dk1"/>
              </a:solidFill>
            </a:endParaRPr>
          </a:p>
        </p:txBody>
      </p:sp>
      <p:pic>
        <p:nvPicPr>
          <p:cNvPr descr="Objective Images - Free Download on Freepik" id="181" name="Google Shape;181;p23"/>
          <p:cNvPicPr preferRelativeResize="0"/>
          <p:nvPr/>
        </p:nvPicPr>
        <p:blipFill rotWithShape="1">
          <a:blip r:embed="rId4">
            <a:alphaModFix/>
          </a:blip>
          <a:srcRect b="0" l="0" r="0" t="0"/>
          <a:stretch/>
        </p:blipFill>
        <p:spPr>
          <a:xfrm>
            <a:off x="11016018" y="40282"/>
            <a:ext cx="1104900" cy="1104900"/>
          </a:xfrm>
          <a:prstGeom prst="roundRect">
            <a:avLst>
              <a:gd fmla="val 8594" name="adj"/>
            </a:avLst>
          </a:prstGeom>
          <a:solidFill>
            <a:srgbClr val="ECECEC"/>
          </a:solidFill>
          <a:ln>
            <a:noFill/>
          </a:ln>
          <a:effectLst>
            <a:reflection blurRad="0" dir="5400000" dist="5000" endA="0" endPos="28000" fadeDir="5400012" kx="0" rotWithShape="0" algn="bl" stA="38000" stPos="0" sy="-100000" ky="0"/>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nvSpPr>
        <p:spPr>
          <a:xfrm>
            <a:off x="576327" y="282562"/>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Gesture to Action Mapping</a:t>
            </a:r>
            <a:endParaRPr/>
          </a:p>
        </p:txBody>
      </p:sp>
      <p:pic>
        <p:nvPicPr>
          <p:cNvPr descr="A close up of a logo&#10;&#10;AI-generated content may be incorrect." id="188" name="Google Shape;188;p24"/>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89" name="Google Shape;189;p24"/>
          <p:cNvSpPr txBox="1"/>
          <p:nvPr/>
        </p:nvSpPr>
        <p:spPr>
          <a:xfrm>
            <a:off x="576327" y="1013218"/>
            <a:ext cx="7941600" cy="307800"/>
          </a:xfrm>
          <a:prstGeom prst="rect">
            <a:avLst/>
          </a:prstGeom>
          <a:noFill/>
          <a:ln>
            <a:noFill/>
          </a:ln>
        </p:spPr>
        <p:txBody>
          <a:bodyPr anchorCtr="0" anchor="t" bIns="45700" lIns="91425" spcFirstLastPara="1" rIns="91425" wrap="square" tIns="45700">
            <a:spAutoFit/>
          </a:bodyPr>
          <a:lstStyle/>
          <a:p>
            <a:pPr indent="0" lvl="0" marL="0" marR="0" rtl="0" algn="just">
              <a:lnSpc>
                <a:spcPct val="200000"/>
              </a:lnSpc>
              <a:spcBef>
                <a:spcPts val="0"/>
              </a:spcBef>
              <a:spcAft>
                <a:spcPts val="0"/>
              </a:spcAft>
              <a:buNone/>
            </a:pPr>
            <a:r>
              <a:t/>
            </a:r>
            <a:endParaRPr/>
          </a:p>
        </p:txBody>
      </p:sp>
      <p:sp>
        <p:nvSpPr>
          <p:cNvPr id="190" name="Google Shape;190;p24"/>
          <p:cNvSpPr txBox="1"/>
          <p:nvPr/>
        </p:nvSpPr>
        <p:spPr>
          <a:xfrm>
            <a:off x="9192000" y="1250175"/>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US"/>
              <a:t>:</a:t>
            </a:r>
            <a:endParaRPr/>
          </a:p>
        </p:txBody>
      </p:sp>
      <p:graphicFrame>
        <p:nvGraphicFramePr>
          <p:cNvPr id="191" name="Google Shape;191;p24"/>
          <p:cNvGraphicFramePr/>
          <p:nvPr/>
        </p:nvGraphicFramePr>
        <p:xfrm>
          <a:off x="931650" y="1391100"/>
          <a:ext cx="3000000" cy="3000000"/>
        </p:xfrm>
        <a:graphic>
          <a:graphicData uri="http://schemas.openxmlformats.org/drawingml/2006/table">
            <a:tbl>
              <a:tblPr>
                <a:noFill/>
                <a:tableStyleId>{39FF83D8-E62D-4293-9C02-166FBB21B22B}</a:tableStyleId>
              </a:tblPr>
              <a:tblGrid>
                <a:gridCol w="5164350"/>
                <a:gridCol w="5143500"/>
              </a:tblGrid>
              <a:tr h="720600">
                <a:tc>
                  <a:txBody>
                    <a:bodyPr/>
                    <a:lstStyle/>
                    <a:p>
                      <a:pPr indent="0" lvl="0" marL="0" rtl="0" algn="ctr">
                        <a:spcBef>
                          <a:spcPts val="0"/>
                        </a:spcBef>
                        <a:spcAft>
                          <a:spcPts val="0"/>
                        </a:spcAft>
                        <a:buNone/>
                      </a:pPr>
                      <a:r>
                        <a:rPr b="1" lang="en-US" sz="2800">
                          <a:solidFill>
                            <a:srgbClr val="C00000"/>
                          </a:solidFill>
                        </a:rPr>
                        <a:t>Finger</a:t>
                      </a:r>
                      <a:endParaRPr b="1" sz="2800">
                        <a:solidFill>
                          <a:srgbClr val="C00000"/>
                        </a:solidFill>
                      </a:endParaRPr>
                    </a:p>
                  </a:txBody>
                  <a:tcPr marT="91425" marB="91425" marR="91425" marL="91425" anchor="ctr"/>
                </a:tc>
                <a:tc>
                  <a:txBody>
                    <a:bodyPr/>
                    <a:lstStyle/>
                    <a:p>
                      <a:pPr indent="0" lvl="0" marL="0" rtl="0" algn="ctr">
                        <a:spcBef>
                          <a:spcPts val="0"/>
                        </a:spcBef>
                        <a:spcAft>
                          <a:spcPts val="0"/>
                        </a:spcAft>
                        <a:buNone/>
                      </a:pPr>
                      <a:r>
                        <a:rPr b="1" lang="en-US" sz="2800">
                          <a:solidFill>
                            <a:srgbClr val="C00000"/>
                          </a:solidFill>
                        </a:rPr>
                        <a:t>Action</a:t>
                      </a:r>
                      <a:endParaRPr b="1" sz="2800">
                        <a:solidFill>
                          <a:srgbClr val="C00000"/>
                        </a:solidFill>
                      </a:endParaRPr>
                    </a:p>
                  </a:txBody>
                  <a:tcPr marT="91425" marB="91425" marR="91425" marL="91425" anchor="ctr"/>
                </a:tc>
              </a:tr>
              <a:tr h="720600">
                <a:tc>
                  <a:txBody>
                    <a:bodyPr/>
                    <a:lstStyle/>
                    <a:p>
                      <a:pPr indent="0" lvl="0" marL="0" rtl="0" algn="ctr">
                        <a:spcBef>
                          <a:spcPts val="0"/>
                        </a:spcBef>
                        <a:spcAft>
                          <a:spcPts val="0"/>
                        </a:spcAft>
                        <a:buNone/>
                      </a:pPr>
                      <a:r>
                        <a:rPr b="1" lang="en-US"/>
                        <a:t>1</a:t>
                      </a:r>
                      <a:endParaRPr b="1"/>
                    </a:p>
                  </a:txBody>
                  <a:tcPr marT="91425" marB="91425" marR="91425" marL="91425" anchor="ctr"/>
                </a:tc>
                <a:tc>
                  <a:txBody>
                    <a:bodyPr/>
                    <a:lstStyle/>
                    <a:p>
                      <a:pPr indent="0" lvl="0" marL="0" rtl="0" algn="ctr">
                        <a:spcBef>
                          <a:spcPts val="0"/>
                        </a:spcBef>
                        <a:spcAft>
                          <a:spcPts val="0"/>
                        </a:spcAft>
                        <a:buNone/>
                      </a:pPr>
                      <a:r>
                        <a:rPr b="1" lang="en-US"/>
                        <a:t>Fullscreen</a:t>
                      </a:r>
                      <a:endParaRPr b="1"/>
                    </a:p>
                  </a:txBody>
                  <a:tcPr marT="91425" marB="91425" marR="91425" marL="91425" anchor="ctr"/>
                </a:tc>
              </a:tr>
              <a:tr h="720600">
                <a:tc>
                  <a:txBody>
                    <a:bodyPr/>
                    <a:lstStyle/>
                    <a:p>
                      <a:pPr indent="0" lvl="0" marL="0" rtl="0" algn="ctr">
                        <a:spcBef>
                          <a:spcPts val="0"/>
                        </a:spcBef>
                        <a:spcAft>
                          <a:spcPts val="0"/>
                        </a:spcAft>
                        <a:buNone/>
                      </a:pPr>
                      <a:r>
                        <a:rPr b="1" lang="en-US"/>
                        <a:t>2</a:t>
                      </a:r>
                      <a:endParaRPr b="1"/>
                    </a:p>
                  </a:txBody>
                  <a:tcPr marT="91425" marB="91425" marR="91425" marL="91425" anchor="ctr"/>
                </a:tc>
                <a:tc>
                  <a:txBody>
                    <a:bodyPr/>
                    <a:lstStyle/>
                    <a:p>
                      <a:pPr indent="0" lvl="0" marL="0" rtl="0" algn="ctr">
                        <a:spcBef>
                          <a:spcPts val="0"/>
                        </a:spcBef>
                        <a:spcAft>
                          <a:spcPts val="0"/>
                        </a:spcAft>
                        <a:buNone/>
                      </a:pPr>
                      <a:r>
                        <a:rPr b="1" lang="en-US"/>
                        <a:t>Forward</a:t>
                      </a:r>
                      <a:endParaRPr b="1"/>
                    </a:p>
                  </a:txBody>
                  <a:tcPr marT="91425" marB="91425" marR="91425" marL="91425" anchor="ctr"/>
                </a:tc>
              </a:tr>
              <a:tr h="720600">
                <a:tc>
                  <a:txBody>
                    <a:bodyPr/>
                    <a:lstStyle/>
                    <a:p>
                      <a:pPr indent="0" lvl="0" marL="0" rtl="0" algn="ctr">
                        <a:spcBef>
                          <a:spcPts val="0"/>
                        </a:spcBef>
                        <a:spcAft>
                          <a:spcPts val="0"/>
                        </a:spcAft>
                        <a:buNone/>
                      </a:pPr>
                      <a:r>
                        <a:rPr b="1" lang="en-US"/>
                        <a:t>3</a:t>
                      </a:r>
                      <a:endParaRPr b="1"/>
                    </a:p>
                  </a:txBody>
                  <a:tcPr marT="91425" marB="91425" marR="91425" marL="91425" anchor="ctr"/>
                </a:tc>
                <a:tc>
                  <a:txBody>
                    <a:bodyPr/>
                    <a:lstStyle/>
                    <a:p>
                      <a:pPr indent="0" lvl="0" marL="0" rtl="0" algn="ctr">
                        <a:spcBef>
                          <a:spcPts val="0"/>
                        </a:spcBef>
                        <a:spcAft>
                          <a:spcPts val="0"/>
                        </a:spcAft>
                        <a:buNone/>
                      </a:pPr>
                      <a:r>
                        <a:rPr b="1" lang="en-US"/>
                        <a:t>Backward</a:t>
                      </a:r>
                      <a:endParaRPr b="1"/>
                    </a:p>
                  </a:txBody>
                  <a:tcPr marT="91425" marB="91425" marR="91425" marL="91425" anchor="ctr"/>
                </a:tc>
              </a:tr>
              <a:tr h="720600">
                <a:tc>
                  <a:txBody>
                    <a:bodyPr/>
                    <a:lstStyle/>
                    <a:p>
                      <a:pPr indent="0" lvl="0" marL="0" rtl="0" algn="ctr">
                        <a:spcBef>
                          <a:spcPts val="0"/>
                        </a:spcBef>
                        <a:spcAft>
                          <a:spcPts val="0"/>
                        </a:spcAft>
                        <a:buNone/>
                      </a:pPr>
                      <a:r>
                        <a:rPr b="1" lang="en-US"/>
                        <a:t>4</a:t>
                      </a:r>
                      <a:endParaRPr b="1"/>
                    </a:p>
                  </a:txBody>
                  <a:tcPr marT="91425" marB="91425" marR="91425" marL="91425" anchor="ctr"/>
                </a:tc>
                <a:tc>
                  <a:txBody>
                    <a:bodyPr/>
                    <a:lstStyle/>
                    <a:p>
                      <a:pPr indent="0" lvl="0" marL="0" rtl="0" algn="ctr">
                        <a:spcBef>
                          <a:spcPts val="0"/>
                        </a:spcBef>
                        <a:spcAft>
                          <a:spcPts val="0"/>
                        </a:spcAft>
                        <a:buNone/>
                      </a:pPr>
                      <a:r>
                        <a:rPr b="1" lang="en-US"/>
                        <a:t>Volume Up</a:t>
                      </a:r>
                      <a:endParaRPr b="1"/>
                    </a:p>
                  </a:txBody>
                  <a:tcPr marT="91425" marB="91425" marR="91425" marL="91425" anchor="ctr"/>
                </a:tc>
              </a:tr>
              <a:tr h="720600">
                <a:tc>
                  <a:txBody>
                    <a:bodyPr/>
                    <a:lstStyle/>
                    <a:p>
                      <a:pPr indent="0" lvl="0" marL="0" rtl="0" algn="ctr">
                        <a:spcBef>
                          <a:spcPts val="0"/>
                        </a:spcBef>
                        <a:spcAft>
                          <a:spcPts val="0"/>
                        </a:spcAft>
                        <a:buNone/>
                      </a:pPr>
                      <a:r>
                        <a:rPr b="1" lang="en-US"/>
                        <a:t>5</a:t>
                      </a:r>
                      <a:endParaRPr b="1"/>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b="1" lang="en-US">
                          <a:solidFill>
                            <a:schemeClr val="dk1"/>
                          </a:solidFill>
                        </a:rPr>
                        <a:t>Play / Pause</a:t>
                      </a:r>
                      <a:endParaRPr b="1">
                        <a:solidFill>
                          <a:schemeClr val="dk1"/>
                        </a:solidFill>
                      </a:endParaRPr>
                    </a:p>
                    <a:p>
                      <a:pPr indent="0" lvl="0" marL="0" rtl="0" algn="ctr">
                        <a:spcBef>
                          <a:spcPts val="0"/>
                        </a:spcBef>
                        <a:spcAft>
                          <a:spcPts val="0"/>
                        </a:spcAft>
                        <a:buNone/>
                      </a:pPr>
                      <a:r>
                        <a:t/>
                      </a:r>
                      <a:endParaRPr b="1"/>
                    </a:p>
                  </a:txBody>
                  <a:tcPr marT="91425" marB="91425" marR="91425" marL="91425" anchor="ctr"/>
                </a:tc>
              </a:tr>
              <a:tr h="720600">
                <a:tc>
                  <a:txBody>
                    <a:bodyPr/>
                    <a:lstStyle/>
                    <a:p>
                      <a:pPr indent="0" lvl="0" marL="0" rtl="0" algn="ctr">
                        <a:spcBef>
                          <a:spcPts val="0"/>
                        </a:spcBef>
                        <a:spcAft>
                          <a:spcPts val="0"/>
                        </a:spcAft>
                        <a:buNone/>
                      </a:pPr>
                      <a:r>
                        <a:rPr b="1" lang="en-US"/>
                        <a:t>0</a:t>
                      </a:r>
                      <a:endParaRPr b="1"/>
                    </a:p>
                  </a:txBody>
                  <a:tcPr marT="91425" marB="91425" marR="91425" marL="91425" anchor="ctr"/>
                </a:tc>
                <a:tc>
                  <a:txBody>
                    <a:bodyPr/>
                    <a:lstStyle/>
                    <a:p>
                      <a:pPr indent="0" lvl="0" marL="0" rtl="0" algn="ctr">
                        <a:spcBef>
                          <a:spcPts val="0"/>
                        </a:spcBef>
                        <a:spcAft>
                          <a:spcPts val="0"/>
                        </a:spcAft>
                        <a:buNone/>
                      </a:pPr>
                      <a:r>
                        <a:rPr b="1" lang="en-US"/>
                        <a:t>Volume Down</a:t>
                      </a:r>
                      <a:endParaRPr b="1"/>
                    </a:p>
                  </a:txBody>
                  <a:tcPr marT="91425" marB="91425" marR="91425" marL="91425" anchor="ctr"/>
                </a:tc>
              </a:tr>
            </a:tbl>
          </a:graphicData>
        </a:graphic>
      </p:graphicFrame>
      <p:pic>
        <p:nvPicPr>
          <p:cNvPr descr="a yellow hand is pointing upwards with the index finger (Provided by Tenor)" id="192" name="Google Shape;192;p24"/>
          <p:cNvPicPr preferRelativeResize="0"/>
          <p:nvPr/>
        </p:nvPicPr>
        <p:blipFill>
          <a:blip r:embed="rId4">
            <a:alphaModFix/>
          </a:blip>
          <a:stretch>
            <a:fillRect/>
          </a:stretch>
        </p:blipFill>
        <p:spPr>
          <a:xfrm>
            <a:off x="4240900" y="2257625"/>
            <a:ext cx="852250" cy="441526"/>
          </a:xfrm>
          <a:prstGeom prst="rect">
            <a:avLst/>
          </a:prstGeom>
          <a:noFill/>
          <a:ln>
            <a:noFill/>
          </a:ln>
        </p:spPr>
      </p:pic>
      <p:pic>
        <p:nvPicPr>
          <p:cNvPr descr="Victory Hand People Sticker (Provided by Tenor)" id="193" name="Google Shape;193;p24"/>
          <p:cNvPicPr preferRelativeResize="0"/>
          <p:nvPr/>
        </p:nvPicPr>
        <p:blipFill>
          <a:blip r:embed="rId5">
            <a:alphaModFix/>
          </a:blip>
          <a:stretch>
            <a:fillRect/>
          </a:stretch>
        </p:blipFill>
        <p:spPr>
          <a:xfrm>
            <a:off x="4405250" y="2892350"/>
            <a:ext cx="687900" cy="660550"/>
          </a:xfrm>
          <a:prstGeom prst="rect">
            <a:avLst/>
          </a:prstGeom>
          <a:noFill/>
          <a:ln>
            <a:noFill/>
          </a:ln>
        </p:spPr>
      </p:pic>
      <p:pic>
        <p:nvPicPr>
          <p:cNvPr descr="a yellow hand is making a rock sign with its fingers (Provided by Tenor)" id="194" name="Google Shape;194;p24"/>
          <p:cNvPicPr preferRelativeResize="0"/>
          <p:nvPr/>
        </p:nvPicPr>
        <p:blipFill>
          <a:blip r:embed="rId6">
            <a:alphaModFix/>
          </a:blip>
          <a:stretch>
            <a:fillRect/>
          </a:stretch>
        </p:blipFill>
        <p:spPr>
          <a:xfrm>
            <a:off x="4245175" y="3612925"/>
            <a:ext cx="847974" cy="660550"/>
          </a:xfrm>
          <a:prstGeom prst="rect">
            <a:avLst/>
          </a:prstGeom>
          <a:noFill/>
          <a:ln>
            <a:noFill/>
          </a:ln>
        </p:spPr>
      </p:pic>
      <p:pic>
        <p:nvPicPr>
          <p:cNvPr descr="a brown fist with a white background (Provided by Tenor)" id="195" name="Google Shape;195;p24"/>
          <p:cNvPicPr preferRelativeResize="0"/>
          <p:nvPr/>
        </p:nvPicPr>
        <p:blipFill>
          <a:blip r:embed="rId7">
            <a:alphaModFix/>
          </a:blip>
          <a:stretch>
            <a:fillRect/>
          </a:stretch>
        </p:blipFill>
        <p:spPr>
          <a:xfrm>
            <a:off x="3848100" y="5714700"/>
            <a:ext cx="1474325" cy="615225"/>
          </a:xfrm>
          <a:prstGeom prst="rect">
            <a:avLst/>
          </a:prstGeom>
          <a:noFill/>
          <a:ln>
            <a:noFill/>
          </a:ln>
        </p:spPr>
      </p:pic>
      <p:pic>
        <p:nvPicPr>
          <p:cNvPr descr="Four fingers gesture solid icon, gestures concept, count numbers on palm sign on white background, hand showing four fingers icon in glyph style for mobile and web design. Vector graphics. (Provided by Getty Images)" id="196" name="Google Shape;196;p24"/>
          <p:cNvPicPr preferRelativeResize="0"/>
          <p:nvPr/>
        </p:nvPicPr>
        <p:blipFill>
          <a:blip r:embed="rId8">
            <a:alphaModFix/>
          </a:blip>
          <a:stretch>
            <a:fillRect/>
          </a:stretch>
        </p:blipFill>
        <p:spPr>
          <a:xfrm>
            <a:off x="4155100" y="4303500"/>
            <a:ext cx="1167324" cy="660598"/>
          </a:xfrm>
          <a:prstGeom prst="rect">
            <a:avLst/>
          </a:prstGeom>
          <a:noFill/>
          <a:ln>
            <a:noFill/>
          </a:ln>
        </p:spPr>
      </p:pic>
      <p:pic>
        <p:nvPicPr>
          <p:cNvPr descr="a yellow hand with five fingers is shown with a white background (Provided by Tenor)" id="197" name="Google Shape;197;p24"/>
          <p:cNvPicPr preferRelativeResize="0"/>
          <p:nvPr/>
        </p:nvPicPr>
        <p:blipFill rotWithShape="1">
          <a:blip r:embed="rId9">
            <a:alphaModFix/>
          </a:blip>
          <a:srcRect b="-12537" l="-6268" r="-6268" t="0"/>
          <a:stretch/>
        </p:blipFill>
        <p:spPr>
          <a:xfrm>
            <a:off x="4405250" y="4991827"/>
            <a:ext cx="687900" cy="7228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descr="A close up of a logo&#10;&#10;AI-generated content may be incorrect." id="202" name="Google Shape;202;p25"/>
          <p:cNvPicPr preferRelativeResize="0"/>
          <p:nvPr/>
        </p:nvPicPr>
        <p:blipFill rotWithShape="1">
          <a:blip r:embed="rId3">
            <a:alphaModFix/>
          </a:blip>
          <a:srcRect b="30657" l="22201" r="22736" t="18728"/>
          <a:stretch/>
        </p:blipFill>
        <p:spPr>
          <a:xfrm>
            <a:off x="9113520" y="6096264"/>
            <a:ext cx="2915919" cy="660565"/>
          </a:xfrm>
          <a:prstGeom prst="rect">
            <a:avLst/>
          </a:prstGeom>
          <a:noFill/>
          <a:ln>
            <a:noFill/>
          </a:ln>
        </p:spPr>
      </p:pic>
      <p:sp>
        <p:nvSpPr>
          <p:cNvPr id="203" name="Google Shape;203;p25"/>
          <p:cNvSpPr txBox="1"/>
          <p:nvPr/>
        </p:nvSpPr>
        <p:spPr>
          <a:xfrm>
            <a:off x="674298" y="484736"/>
            <a:ext cx="9727200" cy="66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Results</a:t>
            </a:r>
            <a:endParaRPr/>
          </a:p>
        </p:txBody>
      </p:sp>
      <p:sp>
        <p:nvSpPr>
          <p:cNvPr id="204" name="Google Shape;204;p25"/>
          <p:cNvSpPr txBox="1"/>
          <p:nvPr/>
        </p:nvSpPr>
        <p:spPr>
          <a:xfrm>
            <a:off x="674298" y="1156185"/>
            <a:ext cx="10559700" cy="4105200"/>
          </a:xfrm>
          <a:prstGeom prst="rect">
            <a:avLst/>
          </a:prstGeom>
          <a:noFill/>
          <a:ln>
            <a:noFill/>
          </a:ln>
        </p:spPr>
        <p:txBody>
          <a:bodyPr anchorCtr="0" anchor="t" bIns="45700" lIns="91425" spcFirstLastPara="1" rIns="91425" wrap="square" tIns="45700">
            <a:spAutoFit/>
          </a:bodyPr>
          <a:lstStyle/>
          <a:p>
            <a:pPr indent="-361950" lvl="0" marL="457200" rtl="0" algn="l">
              <a:lnSpc>
                <a:spcPct val="115000"/>
              </a:lnSpc>
              <a:spcBef>
                <a:spcPts val="1200"/>
              </a:spcBef>
              <a:spcAft>
                <a:spcPts val="0"/>
              </a:spcAft>
              <a:buClr>
                <a:schemeClr val="dk1"/>
              </a:buClr>
              <a:buSzPts val="2100"/>
              <a:buChar char="●"/>
            </a:pPr>
            <a:r>
              <a:rPr b="1" lang="en-US" sz="3300">
                <a:solidFill>
                  <a:schemeClr val="dk1"/>
                </a:solidFill>
              </a:rPr>
              <a:t>Real-time gesture-controlled YouTube playback</a:t>
            </a:r>
            <a:br>
              <a:rPr b="1" lang="en-US" sz="3300">
                <a:solidFill>
                  <a:schemeClr val="dk1"/>
                </a:solidFill>
              </a:rPr>
            </a:br>
            <a:endParaRPr b="1" sz="3300">
              <a:solidFill>
                <a:schemeClr val="dk1"/>
              </a:solidFill>
            </a:endParaRPr>
          </a:p>
          <a:p>
            <a:pPr indent="-361950" lvl="0" marL="457200" rtl="0" algn="l">
              <a:lnSpc>
                <a:spcPct val="115000"/>
              </a:lnSpc>
              <a:spcBef>
                <a:spcPts val="0"/>
              </a:spcBef>
              <a:spcAft>
                <a:spcPts val="0"/>
              </a:spcAft>
              <a:buClr>
                <a:schemeClr val="dk1"/>
              </a:buClr>
              <a:buSzPts val="2100"/>
              <a:buChar char="●"/>
            </a:pPr>
            <a:r>
              <a:rPr b="1" lang="en-US" sz="3300">
                <a:solidFill>
                  <a:schemeClr val="dk1"/>
                </a:solidFill>
              </a:rPr>
              <a:t>Stable performance on CPU</a:t>
            </a:r>
            <a:br>
              <a:rPr b="1" lang="en-US" sz="3300">
                <a:solidFill>
                  <a:schemeClr val="dk1"/>
                </a:solidFill>
              </a:rPr>
            </a:br>
            <a:endParaRPr b="1" sz="3300">
              <a:solidFill>
                <a:schemeClr val="dk1"/>
              </a:solidFill>
            </a:endParaRPr>
          </a:p>
          <a:p>
            <a:pPr indent="-361950" lvl="0" marL="457200" rtl="0" algn="l">
              <a:lnSpc>
                <a:spcPct val="115000"/>
              </a:lnSpc>
              <a:spcBef>
                <a:spcPts val="0"/>
              </a:spcBef>
              <a:spcAft>
                <a:spcPts val="0"/>
              </a:spcAft>
              <a:buClr>
                <a:schemeClr val="dk1"/>
              </a:buClr>
              <a:buSzPts val="2100"/>
              <a:buChar char="●"/>
            </a:pPr>
            <a:r>
              <a:rPr b="1" lang="en-US" sz="3300">
                <a:solidFill>
                  <a:schemeClr val="dk1"/>
                </a:solidFill>
              </a:rPr>
              <a:t>Accurate finger detection</a:t>
            </a:r>
            <a:br>
              <a:rPr b="1" lang="en-US" sz="3300">
                <a:solidFill>
                  <a:schemeClr val="dk1"/>
                </a:solidFill>
              </a:rPr>
            </a:br>
            <a:endParaRPr b="1" sz="3300">
              <a:solidFill>
                <a:schemeClr val="dk1"/>
              </a:solidFill>
            </a:endParaRPr>
          </a:p>
          <a:p>
            <a:pPr indent="-361950" lvl="0" marL="457200" rtl="0" algn="l">
              <a:lnSpc>
                <a:spcPct val="115000"/>
              </a:lnSpc>
              <a:spcBef>
                <a:spcPts val="0"/>
              </a:spcBef>
              <a:spcAft>
                <a:spcPts val="0"/>
              </a:spcAft>
              <a:buClr>
                <a:schemeClr val="dk1"/>
              </a:buClr>
              <a:buSzPts val="2100"/>
              <a:buChar char="●"/>
            </a:pPr>
            <a:r>
              <a:rPr b="1" lang="en-US" sz="3300">
                <a:solidFill>
                  <a:schemeClr val="dk1"/>
                </a:solidFill>
              </a:rPr>
              <a:t>Smooth interaction experience</a:t>
            </a:r>
            <a:endParaRPr b="1" sz="3300">
              <a:solidFill>
                <a:schemeClr val="dk1"/>
              </a:solidFill>
            </a:endParaRPr>
          </a:p>
        </p:txBody>
      </p:sp>
      <p:pic>
        <p:nvPicPr>
          <p:cNvPr descr="Objective Images - Free Download on Freepik" id="205" name="Google Shape;205;p25"/>
          <p:cNvPicPr preferRelativeResize="0"/>
          <p:nvPr/>
        </p:nvPicPr>
        <p:blipFill rotWithShape="1">
          <a:blip r:embed="rId4">
            <a:alphaModFix/>
          </a:blip>
          <a:srcRect b="0" l="0" r="0" t="0"/>
          <a:stretch/>
        </p:blipFill>
        <p:spPr>
          <a:xfrm>
            <a:off x="11016018" y="40282"/>
            <a:ext cx="1104900" cy="1104900"/>
          </a:xfrm>
          <a:prstGeom prst="roundRect">
            <a:avLst>
              <a:gd fmla="val 8594" name="adj"/>
            </a:avLst>
          </a:prstGeom>
          <a:solidFill>
            <a:srgbClr val="ECECEC"/>
          </a:solidFill>
          <a:ln>
            <a:noFill/>
          </a:ln>
          <a:effectLst>
            <a:reflection blurRad="0" dir="5400000" dist="5000" endA="0" endPos="28000" fadeDir="5400012" kx="0" rotWithShape="0" algn="bl" stA="38000" stPos="0" sy="-100000" ky="0"/>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A close up of a logo&#10;&#10;AI-generated content may be incorrect." id="210" name="Google Shape;210;p26"/>
          <p:cNvPicPr preferRelativeResize="0"/>
          <p:nvPr/>
        </p:nvPicPr>
        <p:blipFill rotWithShape="1">
          <a:blip r:embed="rId3">
            <a:alphaModFix/>
          </a:blip>
          <a:srcRect b="30658" l="22201" r="22736" t="18728"/>
          <a:stretch/>
        </p:blipFill>
        <p:spPr>
          <a:xfrm>
            <a:off x="9276080" y="6186875"/>
            <a:ext cx="2915920" cy="660565"/>
          </a:xfrm>
          <a:prstGeom prst="rect">
            <a:avLst/>
          </a:prstGeom>
          <a:noFill/>
          <a:ln>
            <a:noFill/>
          </a:ln>
        </p:spPr>
      </p:pic>
      <p:sp>
        <p:nvSpPr>
          <p:cNvPr id="211" name="Google Shape;211;p26"/>
          <p:cNvSpPr txBox="1"/>
          <p:nvPr/>
        </p:nvSpPr>
        <p:spPr>
          <a:xfrm>
            <a:off x="334000" y="340842"/>
            <a:ext cx="10701274"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Future Enhancements</a:t>
            </a:r>
            <a:endParaRPr/>
          </a:p>
        </p:txBody>
      </p:sp>
      <p:sp>
        <p:nvSpPr>
          <p:cNvPr id="212" name="Google Shape;212;p26"/>
          <p:cNvSpPr txBox="1"/>
          <p:nvPr/>
        </p:nvSpPr>
        <p:spPr>
          <a:xfrm>
            <a:off x="334000" y="1054984"/>
            <a:ext cx="11722200" cy="3497100"/>
          </a:xfrm>
          <a:prstGeom prst="rect">
            <a:avLst/>
          </a:prstGeom>
          <a:noFill/>
          <a:ln>
            <a:noFill/>
          </a:ln>
        </p:spPr>
        <p:txBody>
          <a:bodyPr anchorCtr="0" anchor="t" bIns="45700" lIns="91425" spcFirstLastPara="1" rIns="91425" wrap="square" tIns="45700">
            <a:spAutoFit/>
          </a:bodyPr>
          <a:lstStyle/>
          <a:p>
            <a:pPr indent="-361950" lvl="0" marL="457200" rtl="0" algn="l">
              <a:lnSpc>
                <a:spcPct val="115000"/>
              </a:lnSpc>
              <a:spcBef>
                <a:spcPts val="1200"/>
              </a:spcBef>
              <a:spcAft>
                <a:spcPts val="0"/>
              </a:spcAft>
              <a:buClr>
                <a:schemeClr val="dk1"/>
              </a:buClr>
              <a:buSzPts val="2100"/>
              <a:buChar char="•"/>
            </a:pPr>
            <a:r>
              <a:rPr b="1" lang="en-US" sz="2800">
                <a:solidFill>
                  <a:schemeClr val="dk1"/>
                </a:solidFill>
                <a:latin typeface="Times New Roman"/>
                <a:ea typeface="Times New Roman"/>
                <a:cs typeface="Times New Roman"/>
                <a:sym typeface="Times New Roman"/>
              </a:rPr>
              <a:t>Two-hand gesture support</a:t>
            </a:r>
            <a:br>
              <a:rPr b="1" lang="en-US" sz="2800">
                <a:solidFill>
                  <a:schemeClr val="dk1"/>
                </a:solidFill>
                <a:latin typeface="Times New Roman"/>
                <a:ea typeface="Times New Roman"/>
                <a:cs typeface="Times New Roman"/>
                <a:sym typeface="Times New Roman"/>
              </a:rPr>
            </a:br>
            <a:endParaRPr b="1" sz="28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Char char="•"/>
            </a:pPr>
            <a:r>
              <a:rPr b="1" lang="en-US" sz="2800">
                <a:solidFill>
                  <a:schemeClr val="dk1"/>
                </a:solidFill>
                <a:latin typeface="Times New Roman"/>
                <a:ea typeface="Times New Roman"/>
                <a:cs typeface="Times New Roman"/>
                <a:sym typeface="Times New Roman"/>
              </a:rPr>
              <a:t>Custom gesture configuration</a:t>
            </a:r>
            <a:br>
              <a:rPr b="1" lang="en-US" sz="2800">
                <a:solidFill>
                  <a:schemeClr val="dk1"/>
                </a:solidFill>
                <a:latin typeface="Times New Roman"/>
                <a:ea typeface="Times New Roman"/>
                <a:cs typeface="Times New Roman"/>
                <a:sym typeface="Times New Roman"/>
              </a:rPr>
            </a:br>
            <a:endParaRPr b="1" sz="28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Char char="•"/>
            </a:pPr>
            <a:r>
              <a:rPr b="1" lang="en-US" sz="2800">
                <a:solidFill>
                  <a:schemeClr val="dk1"/>
                </a:solidFill>
                <a:latin typeface="Times New Roman"/>
                <a:ea typeface="Times New Roman"/>
                <a:cs typeface="Times New Roman"/>
                <a:sym typeface="Times New Roman"/>
              </a:rPr>
              <a:t>ML-based gesture classifier</a:t>
            </a:r>
            <a:br>
              <a:rPr b="1" lang="en-US" sz="2800">
                <a:solidFill>
                  <a:schemeClr val="dk1"/>
                </a:solidFill>
                <a:latin typeface="Times New Roman"/>
                <a:ea typeface="Times New Roman"/>
                <a:cs typeface="Times New Roman"/>
                <a:sym typeface="Times New Roman"/>
              </a:rPr>
            </a:br>
            <a:endParaRPr b="1" sz="28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Char char="•"/>
            </a:pPr>
            <a:r>
              <a:rPr b="1" lang="en-US" sz="2800">
                <a:solidFill>
                  <a:schemeClr val="dk1"/>
                </a:solidFill>
                <a:latin typeface="Times New Roman"/>
                <a:ea typeface="Times New Roman"/>
                <a:cs typeface="Times New Roman"/>
                <a:sym typeface="Times New Roman"/>
              </a:rPr>
              <a:t>Integration with smart home systems</a:t>
            </a:r>
            <a:endParaRPr b="1" sz="28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descr="A close up of a logo&#10;&#10;AI-generated content may be incorrect." id="217" name="Google Shape;217;p27"/>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218" name="Google Shape;218;p27"/>
          <p:cNvSpPr txBox="1"/>
          <p:nvPr/>
        </p:nvSpPr>
        <p:spPr>
          <a:xfrm>
            <a:off x="720518" y="261363"/>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Conclusion</a:t>
            </a:r>
            <a:br>
              <a:rPr b="1" lang="en-US" sz="4000">
                <a:solidFill>
                  <a:srgbClr val="FF0000"/>
                </a:solidFill>
                <a:latin typeface="Times New Roman"/>
                <a:ea typeface="Times New Roman"/>
                <a:cs typeface="Times New Roman"/>
                <a:sym typeface="Times New Roman"/>
              </a:rPr>
            </a:br>
            <a:br>
              <a:rPr b="1" lang="en-US" sz="4000">
                <a:solidFill>
                  <a:srgbClr val="FF0000"/>
                </a:solidFill>
                <a:latin typeface="Times New Roman"/>
                <a:ea typeface="Times New Roman"/>
                <a:cs typeface="Times New Roman"/>
                <a:sym typeface="Times New Roman"/>
              </a:rPr>
            </a:br>
            <a:endParaRPr b="1" sz="4000">
              <a:solidFill>
                <a:srgbClr val="FF0000"/>
              </a:solidFill>
              <a:latin typeface="Times New Roman"/>
              <a:ea typeface="Times New Roman"/>
              <a:cs typeface="Times New Roman"/>
              <a:sym typeface="Times New Roman"/>
            </a:endParaRPr>
          </a:p>
        </p:txBody>
      </p:sp>
      <p:sp>
        <p:nvSpPr>
          <p:cNvPr id="219" name="Google Shape;219;p27"/>
          <p:cNvSpPr/>
          <p:nvPr/>
        </p:nvSpPr>
        <p:spPr>
          <a:xfrm>
            <a:off x="720525" y="1112576"/>
            <a:ext cx="11037600" cy="4983600"/>
          </a:xfrm>
          <a:prstGeom prst="rect">
            <a:avLst/>
          </a:prstGeom>
          <a:noFill/>
          <a:ln>
            <a:noFill/>
          </a:ln>
        </p:spPr>
        <p:txBody>
          <a:bodyPr anchorCtr="0" anchor="ctr" bIns="45700" lIns="91425" spcFirstLastPara="1" rIns="91425" wrap="square" tIns="45700">
            <a:noAutofit/>
          </a:bodyPr>
          <a:lstStyle/>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Successfully developed a </a:t>
            </a:r>
            <a:r>
              <a:rPr b="1" lang="en-US" sz="2000">
                <a:solidFill>
                  <a:schemeClr val="dk1"/>
                </a:solidFill>
              </a:rPr>
              <a:t>real-time hand gesture recognition system</a:t>
            </a:r>
            <a:r>
              <a:rPr lang="en-US" sz="2000">
                <a:solidFill>
                  <a:schemeClr val="dk1"/>
                </a:solidFill>
              </a:rPr>
              <a:t> using OpenCV and MediaPipe</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Accurately detected and processed </a:t>
            </a:r>
            <a:r>
              <a:rPr b="1" lang="en-US" sz="2000">
                <a:solidFill>
                  <a:schemeClr val="dk1"/>
                </a:solidFill>
              </a:rPr>
              <a:t>21 hand landmarks</a:t>
            </a:r>
            <a:r>
              <a:rPr lang="en-US" sz="2000">
                <a:solidFill>
                  <a:schemeClr val="dk1"/>
                </a:solidFill>
              </a:rPr>
              <a:t> from live webcam input</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Implemented reliable </a:t>
            </a:r>
            <a:r>
              <a:rPr b="1" lang="en-US" sz="2000">
                <a:solidFill>
                  <a:schemeClr val="dk1"/>
                </a:solidFill>
              </a:rPr>
              <a:t>finger counting logic</a:t>
            </a:r>
            <a:r>
              <a:rPr lang="en-US" sz="2000">
                <a:solidFill>
                  <a:schemeClr val="dk1"/>
                </a:solidFill>
              </a:rPr>
              <a:t> for gesture interpretation</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Mapped gestures to </a:t>
            </a:r>
            <a:r>
              <a:rPr b="1" lang="en-US" sz="2000">
                <a:solidFill>
                  <a:schemeClr val="dk1"/>
                </a:solidFill>
              </a:rPr>
              <a:t>YouTube media control actions</a:t>
            </a:r>
            <a:r>
              <a:rPr lang="en-US" sz="2000">
                <a:solidFill>
                  <a:schemeClr val="dk1"/>
                </a:solidFill>
              </a:rPr>
              <a:t> using PyAutoGUI</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Integrated a </a:t>
            </a:r>
            <a:r>
              <a:rPr b="1" lang="en-US" sz="2000">
                <a:solidFill>
                  <a:schemeClr val="dk1"/>
                </a:solidFill>
              </a:rPr>
              <a:t>debounce mechanism</a:t>
            </a:r>
            <a:r>
              <a:rPr lang="en-US" sz="2000">
                <a:solidFill>
                  <a:schemeClr val="dk1"/>
                </a:solidFill>
              </a:rPr>
              <a:t> to ensure stable and smooth interaction</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Achieved efficient performance on a </a:t>
            </a:r>
            <a:r>
              <a:rPr b="1" lang="en-US" sz="2000">
                <a:solidFill>
                  <a:schemeClr val="dk1"/>
                </a:solidFill>
              </a:rPr>
              <a:t>CPU-only system using standard webcam hardware</a:t>
            </a:r>
            <a:br>
              <a:rPr b="1" lang="en-US" sz="2000">
                <a:solidFill>
                  <a:schemeClr val="dk1"/>
                </a:solidFill>
              </a:rPr>
            </a:br>
            <a:endParaRPr b="1"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Demonstrated practical application of </a:t>
            </a:r>
            <a:r>
              <a:rPr b="1" lang="en-US" sz="2000">
                <a:solidFill>
                  <a:schemeClr val="dk1"/>
                </a:solidFill>
              </a:rPr>
              <a:t>computer vision in human-computer interaction</a:t>
            </a:r>
            <a:br>
              <a:rPr b="1" lang="en-US" sz="2000">
                <a:solidFill>
                  <a:schemeClr val="dk1"/>
                </a:solidFill>
              </a:rPr>
            </a:br>
            <a:endParaRPr sz="27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4000">
        <p:fade thruBlk="1"/>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descr="A close up of a logo&#10;&#10;AI-generated content may be incorrect." id="224" name="Google Shape;224;p28"/>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225" name="Google Shape;225;p28"/>
          <p:cNvSpPr txBox="1"/>
          <p:nvPr/>
        </p:nvSpPr>
        <p:spPr>
          <a:xfrm>
            <a:off x="2435498" y="390434"/>
            <a:ext cx="2854960" cy="54784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5000">
                <a:solidFill>
                  <a:srgbClr val="FF0000"/>
                </a:solidFill>
                <a:latin typeface="Times New Roman"/>
                <a:ea typeface="Times New Roman"/>
                <a:cs typeface="Times New Roman"/>
                <a:sym typeface="Times New Roman"/>
              </a:rPr>
              <a:t>?</a:t>
            </a:r>
            <a:endParaRPr/>
          </a:p>
        </p:txBody>
      </p:sp>
      <p:sp>
        <p:nvSpPr>
          <p:cNvPr id="226" name="Google Shape;226;p28"/>
          <p:cNvSpPr txBox="1"/>
          <p:nvPr/>
        </p:nvSpPr>
        <p:spPr>
          <a:xfrm>
            <a:off x="4602480" y="2497976"/>
            <a:ext cx="6146800" cy="1862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chemeClr val="dk1"/>
                </a:solidFill>
                <a:latin typeface="Times New Roman"/>
                <a:ea typeface="Times New Roman"/>
                <a:cs typeface="Times New Roman"/>
                <a:sym typeface="Times New Roman"/>
              </a:rPr>
              <a:t>Any</a:t>
            </a:r>
            <a:endParaRPr/>
          </a:p>
          <a:p>
            <a:pPr indent="0" lvl="0" marL="0" marR="0" rtl="0" algn="l">
              <a:spcBef>
                <a:spcPts val="0"/>
              </a:spcBef>
              <a:spcAft>
                <a:spcPts val="0"/>
              </a:spcAft>
              <a:buNone/>
            </a:pPr>
            <a:r>
              <a:rPr b="1" lang="en-US" sz="7500">
                <a:solidFill>
                  <a:schemeClr val="dk1"/>
                </a:solidFill>
                <a:latin typeface="Times New Roman"/>
                <a:ea typeface="Times New Roman"/>
                <a:cs typeface="Times New Roman"/>
                <a:sym typeface="Times New Roman"/>
              </a:rPr>
              <a:t>Questions</a:t>
            </a:r>
            <a:endParaRPr/>
          </a:p>
        </p:txBody>
      </p:sp>
    </p:spTree>
  </p:cSld>
  <p:clrMapOvr>
    <a:masterClrMapping/>
  </p:clrMapOvr>
  <mc:AlternateContent>
    <mc:Choice Requires="p14">
      <p:transition spd="slow" p14:dur="1600">
        <p14:gallery dir="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A close up of a logo&#10;&#10;AI-generated content may be incorrect." id="231" name="Google Shape;231;p29"/>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pic>
        <p:nvPicPr>
          <p:cNvPr id="232" name="Google Shape;232;p29"/>
          <p:cNvPicPr preferRelativeResize="0"/>
          <p:nvPr/>
        </p:nvPicPr>
        <p:blipFill rotWithShape="1">
          <a:blip r:embed="rId4">
            <a:alphaModFix/>
          </a:blip>
          <a:srcRect b="0" l="0" r="0" t="0"/>
          <a:stretch/>
        </p:blipFill>
        <p:spPr>
          <a:xfrm>
            <a:off x="7380916" y="2084429"/>
            <a:ext cx="4465643" cy="2834317"/>
          </a:xfrm>
          <a:prstGeom prst="rect">
            <a:avLst/>
          </a:prstGeom>
          <a:noFill/>
          <a:ln>
            <a:noFill/>
          </a:ln>
        </p:spPr>
      </p:pic>
      <p:sp>
        <p:nvSpPr>
          <p:cNvPr id="233" name="Google Shape;233;p29"/>
          <p:cNvSpPr txBox="1"/>
          <p:nvPr/>
        </p:nvSpPr>
        <p:spPr>
          <a:xfrm>
            <a:off x="919156" y="2390894"/>
            <a:ext cx="6096000"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4400"/>
              <a:buFont typeface="Libre Baskerville"/>
              <a:buNone/>
            </a:pPr>
            <a:r>
              <a:rPr b="0" i="1" lang="en-US" sz="10000" u="none" cap="none" strike="noStrike">
                <a:solidFill>
                  <a:srgbClr val="FF0000"/>
                </a:solidFill>
                <a:latin typeface="Times New Roman"/>
                <a:ea typeface="Times New Roman"/>
                <a:cs typeface="Times New Roman"/>
                <a:sym typeface="Times New Roman"/>
              </a:rPr>
              <a:t>Thank </a:t>
            </a:r>
            <a:r>
              <a:rPr i="1" lang="en-US" sz="10000">
                <a:solidFill>
                  <a:srgbClr val="FF0000"/>
                </a:solidFill>
                <a:latin typeface="Times New Roman"/>
                <a:ea typeface="Times New Roman"/>
                <a:cs typeface="Times New Roman"/>
                <a:sym typeface="Times New Roman"/>
              </a:rPr>
              <a:t> </a:t>
            </a:r>
            <a:r>
              <a:rPr b="0" i="1" lang="en-US" sz="10000" u="none" cap="none" strike="noStrike">
                <a:solidFill>
                  <a:srgbClr val="FF0000"/>
                </a:solidFill>
                <a:latin typeface="Times New Roman"/>
                <a:ea typeface="Times New Roman"/>
                <a:cs typeface="Times New Roman"/>
                <a:sym typeface="Times New Roman"/>
              </a:rPr>
              <a:t>you</a:t>
            </a:r>
            <a:endParaRPr b="0" i="1" sz="10000" u="none" cap="none" strike="noStrike">
              <a:solidFill>
                <a:srgbClr val="FF0000"/>
              </a:solidFill>
              <a:latin typeface="Times New Roman"/>
              <a:ea typeface="Times New Roman"/>
              <a:cs typeface="Times New Roman"/>
              <a:sym typeface="Times New Roman"/>
            </a:endParaRPr>
          </a:p>
        </p:txBody>
      </p:sp>
    </p:spTree>
  </p:cSld>
  <p:clrMapOvr>
    <a:masterClrMapping/>
  </p:clrMapOvr>
  <mc:AlternateContent>
    <mc:Choice Requires="p14">
      <p:transition spd="slow" p14:dur="1200">
        <p14:prism dir="l"/>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